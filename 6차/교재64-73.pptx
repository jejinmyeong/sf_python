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1"/>
  </p:notesMasterIdLst>
  <p:handoutMasterIdLst>
    <p:handoutMasterId r:id="rId32"/>
  </p:handoutMasterIdLst>
  <p:sldIdLst>
    <p:sldId id="271" r:id="rId5"/>
    <p:sldId id="272" r:id="rId6"/>
    <p:sldId id="274" r:id="rId7"/>
    <p:sldId id="288" r:id="rId8"/>
    <p:sldId id="290" r:id="rId9"/>
    <p:sldId id="291" r:id="rId10"/>
    <p:sldId id="296" r:id="rId11"/>
    <p:sldId id="292" r:id="rId12"/>
    <p:sldId id="293" r:id="rId13"/>
    <p:sldId id="294" r:id="rId14"/>
    <p:sldId id="297" r:id="rId15"/>
    <p:sldId id="287" r:id="rId16"/>
    <p:sldId id="298" r:id="rId17"/>
    <p:sldId id="273" r:id="rId18"/>
    <p:sldId id="275" r:id="rId19"/>
    <p:sldId id="276" r:id="rId20"/>
    <p:sldId id="277" r:id="rId21"/>
    <p:sldId id="279" r:id="rId22"/>
    <p:sldId id="278" r:id="rId23"/>
    <p:sldId id="281" r:id="rId24"/>
    <p:sldId id="282" r:id="rId25"/>
    <p:sldId id="283" r:id="rId26"/>
    <p:sldId id="284" r:id="rId27"/>
    <p:sldId id="285" r:id="rId28"/>
    <p:sldId id="289" r:id="rId29"/>
    <p:sldId id="286" r:id="rId3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75E278A-FF0E-49A4-B170-79828D63BBAD}">
          <p14:sldIdLst>
            <p14:sldId id="271"/>
            <p14:sldId id="272"/>
            <p14:sldId id="274"/>
            <p14:sldId id="288"/>
            <p14:sldId id="290"/>
            <p14:sldId id="291"/>
            <p14:sldId id="296"/>
            <p14:sldId id="292"/>
            <p14:sldId id="293"/>
            <p14:sldId id="294"/>
            <p14:sldId id="297"/>
            <p14:sldId id="287"/>
          </p14:sldIdLst>
        </p14:section>
        <p14:section name="디자인, 모핑, 주석 달기, 공동 작업, 입력하세요" id="{B9B51309-D148-4332-87C2-07BE32FBCA3B}">
          <p14:sldIdLst>
            <p14:sldId id="298"/>
            <p14:sldId id="273"/>
            <p14:sldId id="275"/>
            <p14:sldId id="276"/>
            <p14:sldId id="277"/>
            <p14:sldId id="279"/>
            <p14:sldId id="278"/>
            <p14:sldId id="281"/>
            <p14:sldId id="282"/>
            <p14:sldId id="283"/>
            <p14:sldId id="284"/>
            <p14:sldId id="285"/>
            <p14:sldId id="289"/>
            <p14:sldId id="286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DD462F"/>
    <a:srgbClr val="404040"/>
    <a:srgbClr val="FF9B45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0" autoAdjust="0"/>
    <p:restoredTop sz="94397" autoAdjust="0"/>
  </p:normalViewPr>
  <p:slideViewPr>
    <p:cSldViewPr snapToGrid="0">
      <p:cViewPr>
        <p:scale>
          <a:sx n="75" d="100"/>
          <a:sy n="75" d="100"/>
        </p:scale>
        <p:origin x="54" y="7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6615A47-BAB8-40E2-A1ED-9E90A072AC00}" type="datetime1">
              <a:rPr lang="ko-KR" altLang="en-US" smtClean="0">
                <a:latin typeface="+mj-ea"/>
                <a:ea typeface="+mj-ea"/>
              </a:rPr>
              <a:t>2020-12-30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C06A2C1-A9EB-4898-A387-106DFED4BED0}" type="datetime1">
              <a:rPr lang="ko-KR" altLang="en-US" smtClean="0"/>
              <a:pPr/>
              <a:t>2020-12-30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F61EA0F-A667-4B49-8422-0062BC55E249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268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0773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5202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756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9513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6554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911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8678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5251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4600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8837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3778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028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12119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8407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6328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9109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9744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46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8352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30999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6480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94538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24831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983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253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475" y="41652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490280" y="416280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490280" y="112556"/>
            <a:ext cx="6877119" cy="304540"/>
          </a:xfrm>
        </p:spPr>
        <p:txBody>
          <a:bodyPr rtlCol="0" anchor="b" anchorCtr="0">
            <a:noAutofit/>
          </a:bodyPr>
          <a:lstStyle>
            <a:lvl1pPr>
              <a:defRPr sz="1800" b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두 번째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세 번째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네 번째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EBB724D-71E1-4DCA-86A7-3E42B461DE10}" type="datetime1">
              <a:rPr lang="ko-KR" altLang="en-US" smtClean="0"/>
              <a:t>2020-12-30</a:t>
            </a:fld>
            <a:endParaRPr lang="ko-KR" altLang="en-US" dirty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두 번째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세 번째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네 번째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4DCE5A-71AA-4BD9-B96E-5BE2121D3AB0}" type="datetime1">
              <a:rPr lang="ko-KR" altLang="en-US" smtClean="0"/>
              <a:t>2020-12-30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C1BEB21-AD19-4131-A7C5-E8A69D217086}"/>
              </a:ext>
            </a:extLst>
          </p:cNvPr>
          <p:cNvSpPr txBox="1"/>
          <p:nvPr/>
        </p:nvSpPr>
        <p:spPr>
          <a:xfrm>
            <a:off x="539311" y="6333623"/>
            <a:ext cx="11393155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100" b="1"/>
              <a:t>출처</a:t>
            </a:r>
            <a:r>
              <a:rPr lang="en-US" altLang="ko-KR" sz="1100" b="1"/>
              <a:t>: </a:t>
            </a:r>
            <a:r>
              <a:rPr lang="ko-KR" altLang="en-US" sz="1100" b="1"/>
              <a:t>https://www.youtube.com/watch?v=-2tFWQiWVyY&amp;feature=emb_logo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8BA66AA-D8D1-443C-BEBC-0CA6DCD39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11" y="742673"/>
            <a:ext cx="9310859" cy="5372653"/>
          </a:xfrm>
          <a:prstGeom prst="rect">
            <a:avLst/>
          </a:prstGeom>
        </p:spPr>
      </p:pic>
      <p:sp>
        <p:nvSpPr>
          <p:cNvPr id="22" name="제목 7">
            <a:extLst>
              <a:ext uri="{FF2B5EF4-FFF2-40B4-BE49-F238E27FC236}">
                <a16:creationId xmlns:a16="http://schemas.microsoft.com/office/drawing/2014/main" id="{D23CD550-4261-476E-B138-BC5A1243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D7C8F81-70F7-413A-8201-AB9AA26F7A0E}"/>
              </a:ext>
            </a:extLst>
          </p:cNvPr>
          <p:cNvSpPr/>
          <p:nvPr/>
        </p:nvSpPr>
        <p:spPr>
          <a:xfrm>
            <a:off x="9913546" y="249936"/>
            <a:ext cx="1403286" cy="3221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/>
              <a:t>ftour.csv</a:t>
            </a:r>
            <a:endParaRPr lang="ko-KR" altLang="en-US" sz="1600" b="1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8A8BEA-D3AA-41E2-A426-1920BD3CC01B}"/>
              </a:ext>
            </a:extLst>
          </p:cNvPr>
          <p:cNvSpPr/>
          <p:nvPr/>
        </p:nvSpPr>
        <p:spPr>
          <a:xfrm>
            <a:off x="9913546" y="249936"/>
            <a:ext cx="1403286" cy="3221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/>
              <a:t>ftour.csv</a:t>
            </a:r>
            <a:endParaRPr lang="ko-KR" altLang="en-US" sz="1600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B53696-A9A5-414E-8468-1808BA38E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06" y="840227"/>
            <a:ext cx="9310263" cy="5199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3428F2-9D8F-41B2-A84C-FABD2822D375}"/>
              </a:ext>
            </a:extLst>
          </p:cNvPr>
          <p:cNvSpPr txBox="1"/>
          <p:nvPr/>
        </p:nvSpPr>
        <p:spPr>
          <a:xfrm>
            <a:off x="539906" y="6177305"/>
            <a:ext cx="11393155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100" b="1"/>
              <a:t>출처</a:t>
            </a:r>
            <a:r>
              <a:rPr lang="en-US" altLang="ko-KR" sz="1100" b="1"/>
              <a:t>: </a:t>
            </a:r>
            <a:r>
              <a:rPr lang="ko-KR" altLang="en-US" sz="1100" b="1"/>
              <a:t>https://www.youtube.com/watch?v=-2tFWQiWVyY&amp;feature=emb_logo</a:t>
            </a:r>
          </a:p>
        </p:txBody>
      </p:sp>
      <p:sp>
        <p:nvSpPr>
          <p:cNvPr id="12" name="제목 7">
            <a:extLst>
              <a:ext uri="{FF2B5EF4-FFF2-40B4-BE49-F238E27FC236}">
                <a16:creationId xmlns:a16="http://schemas.microsoft.com/office/drawing/2014/main" id="{D25E854A-6B63-40D0-B520-D15273A8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43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8A8BEA-D3AA-41E2-A426-1920BD3CC01B}"/>
              </a:ext>
            </a:extLst>
          </p:cNvPr>
          <p:cNvSpPr/>
          <p:nvPr/>
        </p:nvSpPr>
        <p:spPr>
          <a:xfrm>
            <a:off x="9913546" y="249936"/>
            <a:ext cx="1403286" cy="3221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/>
              <a:t>ftour.csv</a:t>
            </a:r>
            <a:endParaRPr lang="ko-KR" altLang="en-US" sz="1600" b="1"/>
          </a:p>
        </p:txBody>
      </p:sp>
      <p:sp>
        <p:nvSpPr>
          <p:cNvPr id="12" name="제목 7">
            <a:extLst>
              <a:ext uri="{FF2B5EF4-FFF2-40B4-BE49-F238E27FC236}">
                <a16:creationId xmlns:a16="http://schemas.microsoft.com/office/drawing/2014/main" id="{601340FC-2E39-42C3-8FFA-105019AD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9A06986-9994-4AD7-B1E2-D38F12FDF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11" y="572087"/>
            <a:ext cx="100774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2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566CBA3-8DE2-420C-B708-51AFA22FE930}"/>
              </a:ext>
            </a:extLst>
          </p:cNvPr>
          <p:cNvSpPr txBox="1"/>
          <p:nvPr/>
        </p:nvSpPr>
        <p:spPr>
          <a:xfrm>
            <a:off x="657225" y="2129909"/>
            <a:ext cx="1087755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2800" b="1"/>
              <a:t>가설</a:t>
            </a:r>
            <a:r>
              <a:rPr lang="en-US" altLang="ko-KR" sz="2800" b="1"/>
              <a:t>:  (</a:t>
            </a:r>
            <a:r>
              <a:rPr lang="ko-KR" altLang="en-US" sz="2800" b="1"/>
              <a:t>숫자자료가설</a:t>
            </a:r>
            <a:r>
              <a:rPr lang="en-US" altLang="ko-KR" sz="2800" b="1"/>
              <a:t>)</a:t>
            </a:r>
          </a:p>
          <a:p>
            <a:r>
              <a:rPr lang="ko-KR" altLang="en-US" sz="2800" b="1"/>
              <a:t>     거주국가</a:t>
            </a:r>
            <a:r>
              <a:rPr lang="en-US" altLang="ko-KR" sz="2800" b="1"/>
              <a:t>(nat)</a:t>
            </a:r>
            <a:r>
              <a:rPr lang="ko-KR" altLang="en-US" sz="2800" b="1"/>
              <a:t>에 따라 </a:t>
            </a:r>
            <a:endParaRPr lang="en-US" altLang="ko-KR" sz="2800" b="1"/>
          </a:p>
          <a:p>
            <a:r>
              <a:rPr lang="ko-KR" altLang="en-US" sz="2000" b="1"/>
              <a:t>       체류기간</a:t>
            </a:r>
            <a:r>
              <a:rPr lang="en-US" altLang="ko-KR" sz="2000" b="1"/>
              <a:t>(period)</a:t>
            </a:r>
            <a:r>
              <a:rPr lang="ko-KR" altLang="en-US" sz="2000" b="1"/>
              <a:t>와</a:t>
            </a:r>
            <a:r>
              <a:rPr lang="en-US" altLang="ko-KR" sz="2000" b="1"/>
              <a:t>, </a:t>
            </a:r>
            <a:r>
              <a:rPr lang="ko-KR" altLang="en-US" sz="2000" b="1"/>
              <a:t>지출경비</a:t>
            </a:r>
            <a:r>
              <a:rPr lang="en-US" altLang="ko-KR" sz="2000" b="1"/>
              <a:t>(expense), </a:t>
            </a:r>
            <a:r>
              <a:rPr lang="ko-KR" altLang="en-US" sz="2000" b="1"/>
              <a:t>전반적만족도</a:t>
            </a:r>
            <a:r>
              <a:rPr lang="en-US" altLang="ko-KR" sz="2000" b="1"/>
              <a:t>(overal)</a:t>
            </a:r>
          </a:p>
          <a:p>
            <a:r>
              <a:rPr lang="en-US" altLang="ko-KR" sz="2000" b="1"/>
              <a:t>       </a:t>
            </a:r>
            <a:r>
              <a:rPr lang="ko-KR" altLang="en-US" sz="2000" b="1"/>
              <a:t>의 차이가 있다</a:t>
            </a:r>
            <a:r>
              <a:rPr lang="en-US" altLang="ko-KR" sz="2000" b="1"/>
              <a:t>.</a:t>
            </a:r>
            <a:endParaRPr lang="ko-KR" altLang="en-US" sz="20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16555-06BD-427E-A700-58936A4FFFE0}"/>
              </a:ext>
            </a:extLst>
          </p:cNvPr>
          <p:cNvSpPr txBox="1"/>
          <p:nvPr/>
        </p:nvSpPr>
        <p:spPr>
          <a:xfrm>
            <a:off x="657225" y="4063484"/>
            <a:ext cx="1087755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2800" b="1"/>
              <a:t>파일명</a:t>
            </a:r>
            <a:r>
              <a:rPr lang="en-US" altLang="ko-KR" sz="2800" b="1"/>
              <a:t>: </a:t>
            </a:r>
            <a:r>
              <a:rPr lang="ko-KR" altLang="en-US" sz="2800" b="1"/>
              <a:t>거주국가별</a:t>
            </a:r>
            <a:r>
              <a:rPr lang="en-US" altLang="ko-KR" sz="2800" b="1"/>
              <a:t>_</a:t>
            </a:r>
            <a:r>
              <a:rPr lang="ko-KR" altLang="en-US" sz="2800" b="1"/>
              <a:t>기간</a:t>
            </a:r>
            <a:r>
              <a:rPr lang="en-US" altLang="ko-KR" sz="2800" b="1"/>
              <a:t>_</a:t>
            </a:r>
            <a:r>
              <a:rPr lang="ko-KR" altLang="en-US" sz="2800" b="1"/>
              <a:t>경비</a:t>
            </a:r>
            <a:r>
              <a:rPr lang="en-US" altLang="ko-KR" sz="2800" b="1"/>
              <a:t>_</a:t>
            </a:r>
            <a:r>
              <a:rPr lang="ko-KR" altLang="en-US" sz="2800" b="1"/>
              <a:t>만족도분석</a:t>
            </a:r>
          </a:p>
        </p:txBody>
      </p:sp>
    </p:spTree>
    <p:extLst>
      <p:ext uri="{BB962C8B-B14F-4D97-AF65-F5344CB8AC3E}">
        <p14:creationId xmlns:p14="http://schemas.microsoft.com/office/powerpoint/2010/main" val="709201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7F51B5C-CCE6-47A8-AB9B-6A89B6FE798D}"/>
              </a:ext>
            </a:extLst>
          </p:cNvPr>
          <p:cNvSpPr/>
          <p:nvPr/>
        </p:nvSpPr>
        <p:spPr>
          <a:xfrm>
            <a:off x="6449960" y="845568"/>
            <a:ext cx="4352926" cy="55965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subplot</a:t>
            </a:r>
            <a:r>
              <a:rPr lang="ko-KR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은 차트창나누기</a:t>
            </a:r>
            <a:endParaRPr lang="en-US" altLang="ko-KR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subplot(</a:t>
            </a:r>
            <a:r>
              <a:rPr lang="ko-KR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행의갯수</a:t>
            </a:r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ko-KR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열의갯수</a:t>
            </a:r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ko-KR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내위치값</a:t>
            </a:r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algn="ctr"/>
            <a:endParaRPr lang="en-US" altLang="ko-KR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subplot(1,2,1)</a:t>
            </a:r>
          </a:p>
          <a:p>
            <a:pPr algn="ctr"/>
            <a:endParaRPr lang="en-US" altLang="ko-KR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ko-KR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행</a:t>
            </a:r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ko-KR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열로나눈 차트창에서 </a:t>
            </a:r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ko-KR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번째위치차트임</a:t>
            </a:r>
            <a:endParaRPr lang="en-US" altLang="ko-KR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-----------------------------------</a:t>
            </a:r>
          </a:p>
          <a:p>
            <a:pPr algn="ctr"/>
            <a:r>
              <a:rPr lang="ko-KR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subplot(3,4,1) ~ </a:t>
            </a:r>
          </a:p>
          <a:p>
            <a:pPr algn="ctr"/>
            <a:r>
              <a:rPr lang="en-US" altLang="ko-KR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subplot(3,4,12)</a:t>
            </a:r>
            <a:endParaRPr lang="ko-KR" alt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01FBF6-6283-4768-9F24-7ACD25539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4" y="845569"/>
            <a:ext cx="5716620" cy="5707632"/>
          </a:xfrm>
          <a:prstGeom prst="rect">
            <a:avLst/>
          </a:prstGeom>
        </p:spPr>
      </p:pic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 </a:t>
            </a:r>
            <a:r>
              <a:rPr lang="ko-KR" altLang="en-US" sz="1400" b="1">
                <a:cs typeface="Segoe UI Light" panose="020B0502040204020203" pitchFamily="34" charset="0"/>
              </a:rPr>
              <a:t>거주국가와    </a:t>
            </a:r>
            <a:r>
              <a:rPr lang="ko-KR" altLang="en-US" sz="1400" b="1"/>
              <a:t>체류기간</a:t>
            </a:r>
            <a:r>
              <a:rPr lang="en-US" altLang="ko-KR" sz="1400" b="1"/>
              <a:t>(period), </a:t>
            </a:r>
            <a:r>
              <a:rPr lang="ko-KR" altLang="en-US" sz="1400" b="1"/>
              <a:t>지출경비</a:t>
            </a:r>
            <a:r>
              <a:rPr lang="en-US" altLang="ko-KR" sz="1400" b="1"/>
              <a:t>(expense), </a:t>
            </a:r>
            <a:r>
              <a:rPr lang="ko-KR" altLang="en-US" sz="1400" b="1"/>
              <a:t>전반적만족도</a:t>
            </a:r>
            <a:r>
              <a:rPr lang="en-US" altLang="ko-KR" sz="1400" b="1"/>
              <a:t>(overal)</a:t>
            </a:r>
            <a:r>
              <a:rPr lang="ko-KR" altLang="en-US" sz="1400" b="1"/>
              <a:t>의 관계</a:t>
            </a:r>
            <a:endParaRPr lang="en-US" altLang="ko-KR" sz="14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6079FBF-0440-4725-BA67-710D737EE9C4}"/>
              </a:ext>
            </a:extLst>
          </p:cNvPr>
          <p:cNvSpPr/>
          <p:nvPr/>
        </p:nvSpPr>
        <p:spPr>
          <a:xfrm>
            <a:off x="275379" y="5426818"/>
            <a:ext cx="304800" cy="3048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행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F40DEE2-1248-4EFB-A990-2E38F797B2AB}"/>
              </a:ext>
            </a:extLst>
          </p:cNvPr>
          <p:cNvSpPr/>
          <p:nvPr/>
        </p:nvSpPr>
        <p:spPr>
          <a:xfrm>
            <a:off x="2070386" y="6457949"/>
            <a:ext cx="304800" cy="3048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열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973AB1D-3602-4612-A67F-F2E445130836}"/>
              </a:ext>
            </a:extLst>
          </p:cNvPr>
          <p:cNvSpPr/>
          <p:nvPr/>
        </p:nvSpPr>
        <p:spPr>
          <a:xfrm>
            <a:off x="4558068" y="6442120"/>
            <a:ext cx="304800" cy="3048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열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88762AA-0C0B-46CC-9E26-EE613CEB96D1}"/>
              </a:ext>
            </a:extLst>
          </p:cNvPr>
          <p:cNvSpPr/>
          <p:nvPr/>
        </p:nvSpPr>
        <p:spPr>
          <a:xfrm>
            <a:off x="2375186" y="5418509"/>
            <a:ext cx="1457324" cy="3048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subplot(1,2,1)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7F4C762-E230-4D77-A65A-1C8EDFADDE4B}"/>
              </a:ext>
            </a:extLst>
          </p:cNvPr>
          <p:cNvSpPr/>
          <p:nvPr/>
        </p:nvSpPr>
        <p:spPr>
          <a:xfrm>
            <a:off x="5198797" y="5401418"/>
            <a:ext cx="1457324" cy="3048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subplot(1,2,2)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370FF5-01D1-4815-9D3A-56BB6701CD67}"/>
              </a:ext>
            </a:extLst>
          </p:cNvPr>
          <p:cNvSpPr txBox="1"/>
          <p:nvPr/>
        </p:nvSpPr>
        <p:spPr>
          <a:xfrm>
            <a:off x="733340" y="507014"/>
            <a:ext cx="63151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/>
              <a:t>체류기간에 대한 데이터 분포도 확인</a:t>
            </a:r>
            <a:r>
              <a:rPr lang="en-US" altLang="ko-KR" sz="1600" b="1"/>
              <a:t>(</a:t>
            </a:r>
            <a:r>
              <a:rPr lang="ko-KR" altLang="en-US" sz="1600" b="1"/>
              <a:t>산점도와 박스플롯</a:t>
            </a:r>
            <a:r>
              <a:rPr lang="en-US" altLang="ko-KR" sz="1600" b="1"/>
              <a:t>)</a:t>
            </a:r>
            <a:endParaRPr lang="ko-KR" altLang="en-US" sz="1600" b="1"/>
          </a:p>
        </p:txBody>
      </p:sp>
    </p:spTree>
    <p:extLst>
      <p:ext uri="{BB962C8B-B14F-4D97-AF65-F5344CB8AC3E}">
        <p14:creationId xmlns:p14="http://schemas.microsoft.com/office/powerpoint/2010/main" val="255433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 </a:t>
            </a:r>
            <a:r>
              <a:rPr lang="ko-KR" altLang="en-US" sz="1400" b="1">
                <a:cs typeface="Segoe UI Light" panose="020B0502040204020203" pitchFamily="34" charset="0"/>
              </a:rPr>
              <a:t>거주국가와    </a:t>
            </a:r>
            <a:r>
              <a:rPr lang="ko-KR" altLang="en-US" sz="1400" b="1"/>
              <a:t>체류기간</a:t>
            </a:r>
            <a:r>
              <a:rPr lang="en-US" altLang="ko-KR" sz="1400" b="1"/>
              <a:t>(period), </a:t>
            </a:r>
            <a:r>
              <a:rPr lang="ko-KR" altLang="en-US" sz="1400" b="1"/>
              <a:t>지출경비</a:t>
            </a:r>
            <a:r>
              <a:rPr lang="en-US" altLang="ko-KR" sz="1400" b="1"/>
              <a:t>(expense), </a:t>
            </a:r>
            <a:r>
              <a:rPr lang="ko-KR" altLang="en-US" sz="1400" b="1"/>
              <a:t>전반적만족도</a:t>
            </a:r>
            <a:r>
              <a:rPr lang="en-US" altLang="ko-KR" sz="1400" b="1"/>
              <a:t>(overal)</a:t>
            </a:r>
            <a:r>
              <a:rPr lang="ko-KR" altLang="en-US" sz="1400" b="1"/>
              <a:t>의 관계</a:t>
            </a:r>
            <a:endParaRPr lang="en-US" altLang="ko-KR" sz="14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573382-25AF-4782-899B-C2EEE43985D9}"/>
              </a:ext>
            </a:extLst>
          </p:cNvPr>
          <p:cNvSpPr/>
          <p:nvPr/>
        </p:nvSpPr>
        <p:spPr>
          <a:xfrm>
            <a:off x="778598" y="587665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지출경비의  기술통계와</a:t>
            </a:r>
            <a:r>
              <a:rPr lang="en-US" altLang="ko-KR" sz="1200" b="1"/>
              <a:t>, </a:t>
            </a:r>
            <a:r>
              <a:rPr lang="ko-KR" altLang="en-US" sz="1200" b="1"/>
              <a:t>산점도</a:t>
            </a:r>
            <a:r>
              <a:rPr lang="en-US" altLang="ko-KR" sz="1200" b="1"/>
              <a:t>, </a:t>
            </a:r>
            <a:r>
              <a:rPr lang="ko-KR" altLang="en-US" sz="1200" b="1"/>
              <a:t>박스플랏 확인  </a:t>
            </a:r>
            <a:r>
              <a:rPr lang="en-US" altLang="ko-KR" sz="1200" b="1">
                <a:solidFill>
                  <a:srgbClr val="FFFF00"/>
                </a:solidFill>
              </a:rPr>
              <a:t>(</a:t>
            </a:r>
            <a:r>
              <a:rPr lang="ko-KR" altLang="en-US" sz="1200" b="1">
                <a:solidFill>
                  <a:srgbClr val="FFFF00"/>
                </a:solidFill>
              </a:rPr>
              <a:t>아래 파란색 테두리 안에 그림 넣기</a:t>
            </a:r>
            <a:r>
              <a:rPr lang="en-US" altLang="ko-KR" sz="1200" b="1">
                <a:solidFill>
                  <a:srgbClr val="FFFF00"/>
                </a:solidFill>
              </a:rPr>
              <a:t>)</a:t>
            </a:r>
            <a:endParaRPr lang="ko-KR" altLang="en-US" sz="1400" b="1">
              <a:solidFill>
                <a:srgbClr val="FFFF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0735C72-B9FF-42F0-BD8A-13E2FA796EB4}"/>
              </a:ext>
            </a:extLst>
          </p:cNvPr>
          <p:cNvSpPr/>
          <p:nvPr/>
        </p:nvSpPr>
        <p:spPr>
          <a:xfrm>
            <a:off x="778598" y="3479644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전반적만족도 기술통계와</a:t>
            </a:r>
            <a:r>
              <a:rPr lang="en-US" altLang="ko-KR" sz="1200" b="1"/>
              <a:t>, </a:t>
            </a:r>
            <a:r>
              <a:rPr lang="ko-KR" altLang="en-US" sz="1200" b="1"/>
              <a:t>산점도</a:t>
            </a:r>
            <a:r>
              <a:rPr lang="en-US" altLang="ko-KR" sz="1200" b="1"/>
              <a:t>, </a:t>
            </a:r>
            <a:r>
              <a:rPr lang="ko-KR" altLang="en-US" sz="1200" b="1"/>
              <a:t>박스플랏 확인 </a:t>
            </a:r>
            <a:r>
              <a:rPr lang="en-US" altLang="ko-KR" sz="1200" b="1">
                <a:solidFill>
                  <a:srgbClr val="FFFF00"/>
                </a:solidFill>
              </a:rPr>
              <a:t>(</a:t>
            </a:r>
            <a:r>
              <a:rPr lang="ko-KR" altLang="en-US" sz="1200" b="1">
                <a:solidFill>
                  <a:srgbClr val="FFFF00"/>
                </a:solidFill>
              </a:rPr>
              <a:t>아래 파란색 테두리 안에 그림 넣기</a:t>
            </a:r>
            <a:r>
              <a:rPr lang="en-US" altLang="ko-KR" sz="1200" b="1">
                <a:solidFill>
                  <a:srgbClr val="FFFF00"/>
                </a:solidFill>
              </a:rPr>
              <a:t>)</a:t>
            </a:r>
            <a:endParaRPr lang="ko-KR" altLang="en-US" sz="1400" b="1">
              <a:solidFill>
                <a:srgbClr val="FFFF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0355D9-A80A-4170-94BD-A51D434A8C06}"/>
              </a:ext>
            </a:extLst>
          </p:cNvPr>
          <p:cNvSpPr/>
          <p:nvPr/>
        </p:nvSpPr>
        <p:spPr>
          <a:xfrm>
            <a:off x="778598" y="1030133"/>
            <a:ext cx="10983457" cy="199231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AAE567-FA50-4E3B-89D6-440CEE19CFE2}"/>
              </a:ext>
            </a:extLst>
          </p:cNvPr>
          <p:cNvSpPr/>
          <p:nvPr/>
        </p:nvSpPr>
        <p:spPr>
          <a:xfrm>
            <a:off x="778598" y="3915984"/>
            <a:ext cx="10983457" cy="199231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B34AEE7-4ADB-4C23-B1CB-876FCAE20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72" y="1144633"/>
            <a:ext cx="5818927" cy="17633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282654E-A6EC-4AF6-B8FA-542733711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172" y="3991077"/>
            <a:ext cx="5918515" cy="180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3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 </a:t>
            </a:r>
            <a:r>
              <a:rPr lang="ko-KR" altLang="en-US" sz="1400" b="1">
                <a:cs typeface="Segoe UI Light" panose="020B0502040204020203" pitchFamily="34" charset="0"/>
              </a:rPr>
              <a:t>거주국가와    </a:t>
            </a:r>
            <a:r>
              <a:rPr lang="ko-KR" altLang="en-US" sz="1400" b="1"/>
              <a:t>체류기간</a:t>
            </a:r>
            <a:r>
              <a:rPr lang="en-US" altLang="ko-KR" sz="1400" b="1"/>
              <a:t>(period), </a:t>
            </a:r>
            <a:r>
              <a:rPr lang="ko-KR" altLang="en-US" sz="1400" b="1"/>
              <a:t>지출경비</a:t>
            </a:r>
            <a:r>
              <a:rPr lang="en-US" altLang="ko-KR" sz="1400" b="1"/>
              <a:t>(expense), </a:t>
            </a:r>
            <a:r>
              <a:rPr lang="ko-KR" altLang="en-US" sz="1400" b="1"/>
              <a:t>전반적만족도</a:t>
            </a:r>
            <a:r>
              <a:rPr lang="en-US" altLang="ko-KR" sz="1400" b="1"/>
              <a:t>(overal)</a:t>
            </a:r>
            <a:r>
              <a:rPr lang="ko-KR" altLang="en-US" sz="1400" b="1"/>
              <a:t>의 관계</a:t>
            </a:r>
            <a:endParaRPr lang="en-US" altLang="ko-KR" sz="14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573382-25AF-4782-899B-C2EEE43985D9}"/>
              </a:ext>
            </a:extLst>
          </p:cNvPr>
          <p:cNvSpPr/>
          <p:nvPr/>
        </p:nvSpPr>
        <p:spPr>
          <a:xfrm>
            <a:off x="674483" y="778164"/>
            <a:ext cx="10983457" cy="4165311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400" b="1"/>
              <a:t>미션</a:t>
            </a:r>
            <a:r>
              <a:rPr lang="en-US" altLang="ko-KR" sz="1400" b="1"/>
              <a:t>] </a:t>
            </a:r>
            <a:r>
              <a:rPr lang="ko-KR" altLang="en-US" sz="1400" b="1"/>
              <a:t>산점도와 박스플롯을 살펴보고 체류기간</a:t>
            </a:r>
            <a:r>
              <a:rPr lang="en-US" altLang="ko-KR" sz="1400" b="1"/>
              <a:t>, </a:t>
            </a:r>
            <a:r>
              <a:rPr lang="ko-KR" altLang="en-US" sz="1400" b="1"/>
              <a:t>지출경비</a:t>
            </a:r>
            <a:r>
              <a:rPr lang="en-US" altLang="ko-KR" sz="1400" b="1"/>
              <a:t>, </a:t>
            </a:r>
            <a:r>
              <a:rPr lang="ko-KR" altLang="en-US" sz="1400" b="1"/>
              <a:t>전반적 만족값을 필터링해서 확인만함</a:t>
            </a:r>
            <a:r>
              <a:rPr lang="en-US" altLang="ko-KR" sz="1400" b="1"/>
              <a:t>.</a:t>
            </a:r>
          </a:p>
          <a:p>
            <a:endParaRPr lang="en-US" altLang="ko-KR" sz="1200" b="1">
              <a:solidFill>
                <a:srgbClr val="FFFF00"/>
              </a:solidFill>
            </a:endParaRPr>
          </a:p>
          <a:p>
            <a:r>
              <a:rPr lang="ko-KR" altLang="en-US" sz="1400" b="1">
                <a:solidFill>
                  <a:srgbClr val="FFFF00"/>
                </a:solidFill>
              </a:rPr>
              <a:t>예</a:t>
            </a:r>
            <a:r>
              <a:rPr lang="en-US" altLang="ko-KR" sz="1400" b="1">
                <a:solidFill>
                  <a:srgbClr val="FFFF00"/>
                </a:solidFill>
              </a:rPr>
              <a:t>) </a:t>
            </a:r>
            <a:r>
              <a:rPr lang="ko-KR" altLang="en-US" sz="1400" b="1">
                <a:solidFill>
                  <a:srgbClr val="FFFF00"/>
                </a:solidFill>
              </a:rPr>
              <a:t>체류기간이 </a:t>
            </a:r>
            <a:r>
              <a:rPr lang="en-US" altLang="ko-KR" sz="1400" b="1">
                <a:solidFill>
                  <a:srgbClr val="FFFF00"/>
                </a:solidFill>
              </a:rPr>
              <a:t>100</a:t>
            </a:r>
            <a:r>
              <a:rPr lang="ko-KR" altLang="en-US" sz="1400" b="1">
                <a:solidFill>
                  <a:srgbClr val="FFFF00"/>
                </a:solidFill>
              </a:rPr>
              <a:t>일 이상인 자료 </a:t>
            </a:r>
            <a:endParaRPr lang="en-US" altLang="ko-KR" sz="1400" b="1">
              <a:solidFill>
                <a:srgbClr val="FFFF00"/>
              </a:solidFill>
            </a:endParaRPr>
          </a:p>
          <a:p>
            <a:r>
              <a:rPr lang="en-US" altLang="ko-KR" sz="1400" b="1">
                <a:solidFill>
                  <a:srgbClr val="FFFF00"/>
                </a:solidFill>
              </a:rPr>
              <a:t>      df[df['period']&gt;=100]</a:t>
            </a:r>
          </a:p>
          <a:p>
            <a:endParaRPr lang="en-US" altLang="ko-KR" sz="1400" b="1">
              <a:solidFill>
                <a:srgbClr val="FFFF00"/>
              </a:solidFill>
            </a:endParaRPr>
          </a:p>
          <a:p>
            <a:endParaRPr lang="en-US" altLang="ko-KR" sz="1400" b="1">
              <a:solidFill>
                <a:srgbClr val="FFFF00"/>
              </a:solidFill>
            </a:endParaRPr>
          </a:p>
          <a:p>
            <a:r>
              <a:rPr lang="ko-KR" altLang="en-US" sz="1400" b="1">
                <a:solidFill>
                  <a:srgbClr val="FFFF00"/>
                </a:solidFill>
              </a:rPr>
              <a:t>예</a:t>
            </a:r>
            <a:r>
              <a:rPr lang="en-US" altLang="ko-KR" sz="1400" b="1">
                <a:solidFill>
                  <a:srgbClr val="FFFF00"/>
                </a:solidFill>
              </a:rPr>
              <a:t>) </a:t>
            </a:r>
            <a:r>
              <a:rPr lang="ko-KR" altLang="en-US" sz="1400" b="1"/>
              <a:t>지출경비가 </a:t>
            </a:r>
            <a:r>
              <a:rPr lang="en-US" altLang="ko-KR" sz="1400" b="1"/>
              <a:t>000 </a:t>
            </a:r>
            <a:r>
              <a:rPr lang="ko-KR" altLang="en-US" sz="1400" b="1"/>
              <a:t>이상인 자료</a:t>
            </a:r>
            <a:r>
              <a:rPr lang="en-US" altLang="ko-KR" sz="1400" b="1"/>
              <a:t>, 000 </a:t>
            </a:r>
            <a:r>
              <a:rPr lang="ko-KR" altLang="en-US" sz="1400" b="1"/>
              <a:t>이하인 자료</a:t>
            </a:r>
            <a:endParaRPr lang="en-US" altLang="ko-KR" sz="1400" b="1"/>
          </a:p>
          <a:p>
            <a:endParaRPr lang="en-US" altLang="ko-KR" sz="1400" b="1"/>
          </a:p>
          <a:p>
            <a:endParaRPr lang="en-US" altLang="ko-KR" sz="1400" b="1"/>
          </a:p>
          <a:p>
            <a:endParaRPr lang="en-US" altLang="ko-KR" sz="1400" b="1"/>
          </a:p>
          <a:p>
            <a:r>
              <a:rPr lang="ko-KR" altLang="en-US" sz="1400" b="1">
                <a:solidFill>
                  <a:srgbClr val="FFFF00"/>
                </a:solidFill>
              </a:rPr>
              <a:t>예</a:t>
            </a:r>
            <a:r>
              <a:rPr lang="en-US" altLang="ko-KR" sz="1400" b="1">
                <a:solidFill>
                  <a:srgbClr val="FFFF00"/>
                </a:solidFill>
              </a:rPr>
              <a:t>) </a:t>
            </a:r>
            <a:r>
              <a:rPr lang="ko-KR" altLang="en-US" sz="1400" b="1"/>
              <a:t>만족도가 </a:t>
            </a:r>
            <a:r>
              <a:rPr lang="en-US" altLang="ko-KR" sz="1400" b="1"/>
              <a:t>0</a:t>
            </a:r>
            <a:r>
              <a:rPr lang="ko-KR" altLang="en-US" sz="1400" b="1"/>
              <a:t>인 자료</a:t>
            </a:r>
            <a:endParaRPr lang="en-US" altLang="ko-KR" sz="1400" b="1"/>
          </a:p>
          <a:p>
            <a:endParaRPr lang="en-US" altLang="ko-KR" sz="1400" b="1"/>
          </a:p>
          <a:p>
            <a:endParaRPr lang="en-US" altLang="ko-KR" sz="1400" b="1"/>
          </a:p>
          <a:p>
            <a:endParaRPr lang="en-US" altLang="ko-KR" sz="1400" b="1"/>
          </a:p>
          <a:p>
            <a:r>
              <a:rPr lang="ko-KR" altLang="en-US" sz="1400" b="1">
                <a:solidFill>
                  <a:srgbClr val="FFFF00"/>
                </a:solidFill>
              </a:rPr>
              <a:t>예</a:t>
            </a:r>
            <a:r>
              <a:rPr lang="en-US" altLang="ko-KR" sz="1400" b="1">
                <a:solidFill>
                  <a:srgbClr val="FFFF00"/>
                </a:solidFill>
              </a:rPr>
              <a:t>) </a:t>
            </a:r>
            <a:r>
              <a:rPr lang="ko-KR" altLang="en-US" sz="1400" b="1"/>
              <a:t>만족도가 </a:t>
            </a:r>
            <a:r>
              <a:rPr lang="en-US" altLang="ko-KR" sz="1400" b="1"/>
              <a:t>0</a:t>
            </a:r>
            <a:r>
              <a:rPr lang="ko-KR" altLang="en-US" sz="1400" b="1"/>
              <a:t>이 아닌자료</a:t>
            </a:r>
            <a:endParaRPr lang="ko-KR" altLang="en-US" sz="1400" b="1">
              <a:solidFill>
                <a:srgbClr val="FFFF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5AAC12-F2CC-4E88-9BAB-1FE2B72EA3A9}"/>
              </a:ext>
            </a:extLst>
          </p:cNvPr>
          <p:cNvSpPr/>
          <p:nvPr/>
        </p:nvSpPr>
        <p:spPr>
          <a:xfrm>
            <a:off x="0" y="-3986573"/>
            <a:ext cx="12192000" cy="52762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/>
              <a:t>12</a:t>
            </a:r>
            <a:r>
              <a:rPr lang="ko-KR" altLang="en-US" sz="3200" b="1"/>
              <a:t>시 </a:t>
            </a:r>
            <a:r>
              <a:rPr lang="en-US" altLang="ko-KR" sz="3200" b="1"/>
              <a:t>30</a:t>
            </a:r>
            <a:r>
              <a:rPr lang="ko-KR" altLang="en-US" sz="3200" b="1"/>
              <a:t>분까지</a:t>
            </a:r>
            <a:endParaRPr lang="en-US" altLang="ko-KR" sz="3200" b="1"/>
          </a:p>
          <a:p>
            <a:pPr algn="ctr"/>
            <a:r>
              <a:rPr lang="en-US" altLang="ko-KR" sz="3200" b="1"/>
              <a:t>11</a:t>
            </a:r>
            <a:r>
              <a:rPr lang="ko-KR" altLang="en-US" sz="3200" b="1"/>
              <a:t>번 슬라이드까지 작업</a:t>
            </a:r>
            <a:endParaRPr lang="en-US" altLang="ko-KR" sz="3200" b="1"/>
          </a:p>
          <a:p>
            <a:pPr algn="ctr"/>
            <a:r>
              <a:rPr lang="ko-KR" altLang="en-US" sz="3200" b="1"/>
              <a:t>하고 하나의 작업을</a:t>
            </a:r>
            <a:endParaRPr lang="en-US" altLang="ko-KR" sz="3200" b="1"/>
          </a:p>
          <a:p>
            <a:pPr algn="ctr"/>
            <a:r>
              <a:rPr lang="en-US" altLang="ko-KR" sz="3200" b="1"/>
              <a:t>5</a:t>
            </a:r>
            <a:r>
              <a:rPr lang="ko-KR" altLang="en-US" sz="3200" b="1"/>
              <a:t>분이상 했는데도 도저히 못할때는</a:t>
            </a:r>
            <a:endParaRPr lang="en-US" altLang="ko-KR" sz="3200" b="1"/>
          </a:p>
          <a:p>
            <a:pPr algn="ctr"/>
            <a:r>
              <a:rPr lang="ko-KR" altLang="en-US" sz="3200" b="1"/>
              <a:t>공개</a:t>
            </a:r>
            <a:r>
              <a:rPr lang="en-US" altLang="ko-KR" sz="3200" b="1"/>
              <a:t>, </a:t>
            </a:r>
            <a:r>
              <a:rPr lang="ko-KR" altLang="en-US" sz="3200" b="1"/>
              <a:t>비공개 모두 질문하셔요</a:t>
            </a:r>
            <a:r>
              <a:rPr lang="en-US" altLang="ko-KR" sz="3200" b="1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9923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BD1C20A-6DEA-4A74-B384-0910C7572DCF}"/>
              </a:ext>
            </a:extLst>
          </p:cNvPr>
          <p:cNvSpPr/>
          <p:nvPr/>
        </p:nvSpPr>
        <p:spPr>
          <a:xfrm>
            <a:off x="3612976" y="3352800"/>
            <a:ext cx="8150399" cy="3133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2D04F0A-3888-4664-80C7-B7C020F25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976" y="3439046"/>
            <a:ext cx="8274224" cy="288027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5FAB284-4AB3-48E6-A703-ACF6F3C9E2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7392"/>
          <a:stretch/>
        </p:blipFill>
        <p:spPr>
          <a:xfrm>
            <a:off x="1019174" y="3429000"/>
            <a:ext cx="1796597" cy="3282870"/>
          </a:xfrm>
          <a:prstGeom prst="rect">
            <a:avLst/>
          </a:prstGeom>
        </p:spPr>
      </p:pic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 </a:t>
            </a:r>
            <a:r>
              <a:rPr lang="ko-KR" altLang="en-US" sz="1400" b="1">
                <a:cs typeface="Segoe UI Light" panose="020B0502040204020203" pitchFamily="34" charset="0"/>
              </a:rPr>
              <a:t>거주국가와    </a:t>
            </a:r>
            <a:r>
              <a:rPr lang="ko-KR" altLang="en-US" sz="1400" b="1"/>
              <a:t>체류기간</a:t>
            </a:r>
            <a:r>
              <a:rPr lang="en-US" altLang="ko-KR" sz="1400" b="1"/>
              <a:t>(period), </a:t>
            </a:r>
            <a:r>
              <a:rPr lang="ko-KR" altLang="en-US" sz="1400" b="1"/>
              <a:t>지출경비</a:t>
            </a:r>
            <a:r>
              <a:rPr lang="en-US" altLang="ko-KR" sz="1400" b="1"/>
              <a:t>(expense), </a:t>
            </a:r>
            <a:r>
              <a:rPr lang="ko-KR" altLang="en-US" sz="1400" b="1"/>
              <a:t>전반적만족도</a:t>
            </a:r>
            <a:r>
              <a:rPr lang="en-US" altLang="ko-KR" sz="1400" b="1"/>
              <a:t>(overal)</a:t>
            </a:r>
            <a:r>
              <a:rPr lang="ko-KR" altLang="en-US" sz="1400" b="1"/>
              <a:t>의 관계</a:t>
            </a:r>
            <a:endParaRPr lang="en-US" altLang="ko-KR" sz="14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573382-25AF-4782-899B-C2EEE43985D9}"/>
              </a:ext>
            </a:extLst>
          </p:cNvPr>
          <p:cNvSpPr/>
          <p:nvPr/>
        </p:nvSpPr>
        <p:spPr>
          <a:xfrm>
            <a:off x="903743" y="538681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체류기간이 </a:t>
            </a:r>
            <a:r>
              <a:rPr lang="en-US" altLang="ko-KR" sz="1200" b="1"/>
              <a:t>30</a:t>
            </a:r>
            <a:r>
              <a:rPr lang="ko-KR" altLang="en-US" sz="1200" b="1"/>
              <a:t>일미만인 자료만 추출하여서 </a:t>
            </a:r>
            <a:r>
              <a:rPr lang="en-US" altLang="ko-KR" sz="1200" b="1"/>
              <a:t>tmp2</a:t>
            </a:r>
            <a:r>
              <a:rPr lang="ko-KR" altLang="en-US" sz="1200" b="1"/>
              <a:t>변수에 할당   </a:t>
            </a:r>
            <a:endParaRPr lang="ko-KR" altLang="en-US" sz="1400" b="1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EB0835-EE49-4E0C-A644-54B9BCFA2A1D}"/>
              </a:ext>
            </a:extLst>
          </p:cNvPr>
          <p:cNvSpPr/>
          <p:nvPr/>
        </p:nvSpPr>
        <p:spPr>
          <a:xfrm>
            <a:off x="903742" y="1654041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 tmp2</a:t>
            </a:r>
            <a:r>
              <a:rPr lang="ko-KR" altLang="en-US" sz="1200" b="1"/>
              <a:t>변수의 거주굮가별</a:t>
            </a:r>
            <a:r>
              <a:rPr lang="en-US" altLang="ko-KR" sz="1200" b="1"/>
              <a:t>, </a:t>
            </a:r>
            <a:r>
              <a:rPr lang="ko-KR" altLang="en-US" sz="1200" b="1"/>
              <a:t>체류기간을 </a:t>
            </a:r>
            <a:r>
              <a:rPr lang="en-US" altLang="ko-KR" sz="1200" b="1"/>
              <a:t>sum</a:t>
            </a:r>
            <a:r>
              <a:rPr lang="ko-KR" altLang="en-US" sz="1200" b="1"/>
              <a:t>하여서 출력하고차트 작성   </a:t>
            </a:r>
            <a:r>
              <a:rPr lang="en-US" altLang="ko-KR" sz="1200" b="1">
                <a:solidFill>
                  <a:srgbClr val="FFFF00"/>
                </a:solidFill>
              </a:rPr>
              <a:t>(</a:t>
            </a:r>
            <a:r>
              <a:rPr lang="ko-KR" altLang="en-US" sz="1200" b="1">
                <a:solidFill>
                  <a:srgbClr val="FFFF00"/>
                </a:solidFill>
              </a:rPr>
              <a:t>참고</a:t>
            </a:r>
            <a:r>
              <a:rPr lang="en-US" altLang="ko-KR" sz="1200" b="1">
                <a:solidFill>
                  <a:srgbClr val="FFFF00"/>
                </a:solidFill>
              </a:rPr>
              <a:t>: </a:t>
            </a:r>
            <a:r>
              <a:rPr lang="ko-KR" altLang="en-US" sz="1200" b="1">
                <a:solidFill>
                  <a:srgbClr val="FFFF00"/>
                </a:solidFill>
              </a:rPr>
              <a:t>판다스그룹 및 차트</a:t>
            </a:r>
            <a:r>
              <a:rPr lang="en-US" altLang="ko-KR" sz="1200" b="1">
                <a:solidFill>
                  <a:srgbClr val="FFFF00"/>
                </a:solidFill>
              </a:rPr>
              <a:t>.html)</a:t>
            </a:r>
            <a:endParaRPr lang="ko-KR" altLang="en-US" sz="1400" b="1">
              <a:solidFill>
                <a:srgbClr val="FFFF00"/>
              </a:solidFill>
            </a:endParaRPr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153DA3AB-175B-4A15-B2C7-1E55225FADF9}"/>
              </a:ext>
            </a:extLst>
          </p:cNvPr>
          <p:cNvSpPr/>
          <p:nvPr/>
        </p:nvSpPr>
        <p:spPr>
          <a:xfrm>
            <a:off x="1019174" y="2896915"/>
            <a:ext cx="2095501" cy="455885"/>
          </a:xfrm>
          <a:prstGeom prst="wedgeRectCallout">
            <a:avLst>
              <a:gd name="adj1" fmla="val -22245"/>
              <a:gd name="adj2" fmla="val 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출력</a:t>
            </a:r>
            <a:r>
              <a:rPr lang="en-US" altLang="ko-KR"/>
              <a:t>1</a:t>
            </a:r>
            <a:r>
              <a:rPr lang="ko-KR" altLang="en-US"/>
              <a:t> </a:t>
            </a:r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A4A08F4A-93F6-40A0-85C8-DFFDA9E23E68}"/>
              </a:ext>
            </a:extLst>
          </p:cNvPr>
          <p:cNvSpPr/>
          <p:nvPr/>
        </p:nvSpPr>
        <p:spPr>
          <a:xfrm>
            <a:off x="3612976" y="2896915"/>
            <a:ext cx="2194984" cy="455885"/>
          </a:xfrm>
          <a:prstGeom prst="wedgeRectCallout">
            <a:avLst>
              <a:gd name="adj1" fmla="val -22245"/>
              <a:gd name="adj2" fmla="val 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출력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BABBEE-6D0E-4A81-A801-86CF4BBF68E3}"/>
              </a:ext>
            </a:extLst>
          </p:cNvPr>
          <p:cNvSpPr txBox="1"/>
          <p:nvPr/>
        </p:nvSpPr>
        <p:spPr>
          <a:xfrm>
            <a:off x="1004119" y="948399"/>
            <a:ext cx="67459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tmp2=df[df['period']&lt;30]</a:t>
            </a:r>
          </a:p>
          <a:p>
            <a:r>
              <a:rPr lang="ko-KR" altLang="en-US"/>
              <a:t>plt.boxplot(tmp2['period'])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76CDFB-8E7A-4836-8710-AA3E3E0AD132}"/>
              </a:ext>
            </a:extLst>
          </p:cNvPr>
          <p:cNvSpPr txBox="1"/>
          <p:nvPr/>
        </p:nvSpPr>
        <p:spPr>
          <a:xfrm>
            <a:off x="1019174" y="21099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na_period=tmp2.groupby('nat').period.sum()</a:t>
            </a:r>
          </a:p>
          <a:p>
            <a:r>
              <a:rPr lang="ko-KR" altLang="en-US"/>
              <a:t>na_period</a:t>
            </a:r>
          </a:p>
        </p:txBody>
      </p:sp>
    </p:spTree>
    <p:extLst>
      <p:ext uri="{BB962C8B-B14F-4D97-AF65-F5344CB8AC3E}">
        <p14:creationId xmlns:p14="http://schemas.microsoft.com/office/powerpoint/2010/main" val="185944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 </a:t>
            </a:r>
            <a:r>
              <a:rPr lang="ko-KR" altLang="en-US" sz="1400" b="1">
                <a:cs typeface="Segoe UI Light" panose="020B0502040204020203" pitchFamily="34" charset="0"/>
              </a:rPr>
              <a:t>거주국가와    </a:t>
            </a:r>
            <a:r>
              <a:rPr lang="ko-KR" altLang="en-US" sz="1400" b="1"/>
              <a:t>체류기간</a:t>
            </a:r>
            <a:r>
              <a:rPr lang="en-US" altLang="ko-KR" sz="1400" b="1"/>
              <a:t>(period), </a:t>
            </a:r>
            <a:r>
              <a:rPr lang="ko-KR" altLang="en-US" sz="1400" b="1"/>
              <a:t>지출경비</a:t>
            </a:r>
            <a:r>
              <a:rPr lang="en-US" altLang="ko-KR" sz="1400" b="1"/>
              <a:t>(expense), </a:t>
            </a:r>
            <a:r>
              <a:rPr lang="ko-KR" altLang="en-US" sz="1400" b="1"/>
              <a:t>전반적만족도</a:t>
            </a:r>
            <a:r>
              <a:rPr lang="en-US" altLang="ko-KR" sz="1400" b="1"/>
              <a:t>(overal)</a:t>
            </a:r>
            <a:r>
              <a:rPr lang="ko-KR" altLang="en-US" sz="1400" b="1"/>
              <a:t>의 관계</a:t>
            </a:r>
            <a:endParaRPr lang="en-US" altLang="ko-KR" sz="14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573382-25AF-4782-899B-C2EEE43985D9}"/>
              </a:ext>
            </a:extLst>
          </p:cNvPr>
          <p:cNvSpPr/>
          <p:nvPr/>
        </p:nvSpPr>
        <p:spPr>
          <a:xfrm>
            <a:off x="903743" y="538681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 tmp2</a:t>
            </a:r>
            <a:r>
              <a:rPr lang="ko-KR" altLang="en-US" sz="1200" b="1"/>
              <a:t>에서 국가별로 지출경비를 </a:t>
            </a:r>
            <a:r>
              <a:rPr lang="en-US" altLang="ko-KR" sz="1200" b="1"/>
              <a:t>sum </a:t>
            </a:r>
            <a:r>
              <a:rPr lang="ko-KR" altLang="en-US" sz="1200" b="1"/>
              <a:t>하여서 출력과 차트작성</a:t>
            </a:r>
            <a:endParaRPr lang="ko-KR" altLang="en-US" sz="1400" b="1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EB0835-EE49-4E0C-A644-54B9BCFA2A1D}"/>
              </a:ext>
            </a:extLst>
          </p:cNvPr>
          <p:cNvSpPr/>
          <p:nvPr/>
        </p:nvSpPr>
        <p:spPr>
          <a:xfrm>
            <a:off x="903743" y="3429000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 tmp2</a:t>
            </a:r>
            <a:r>
              <a:rPr lang="ko-KR" altLang="en-US" sz="1200" b="1"/>
              <a:t>변수의 국가별로 전반적만족도를 </a:t>
            </a:r>
            <a:r>
              <a:rPr lang="en-US" altLang="ko-KR" sz="1200" b="1"/>
              <a:t>mean(</a:t>
            </a:r>
            <a:r>
              <a:rPr lang="ko-KR" altLang="en-US" sz="1200" b="1"/>
              <a:t>평균</a:t>
            </a:r>
            <a:r>
              <a:rPr lang="en-US" altLang="ko-KR" sz="1200" b="1"/>
              <a:t>) </a:t>
            </a:r>
            <a:r>
              <a:rPr lang="ko-KR" altLang="en-US" sz="1200" b="1"/>
              <a:t>계산하여 출력과 차트 작성</a:t>
            </a:r>
            <a:endParaRPr lang="ko-KR" altLang="en-US" sz="1400" b="1">
              <a:solidFill>
                <a:srgbClr val="FFFF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D9F0FE-67F6-4FAC-86FB-79468CCC59D3}"/>
              </a:ext>
            </a:extLst>
          </p:cNvPr>
          <p:cNvSpPr/>
          <p:nvPr/>
        </p:nvSpPr>
        <p:spPr>
          <a:xfrm>
            <a:off x="903743" y="995881"/>
            <a:ext cx="10983457" cy="199231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9F6FCCB-BED8-4A08-9479-CD513BE4C369}"/>
              </a:ext>
            </a:extLst>
          </p:cNvPr>
          <p:cNvSpPr/>
          <p:nvPr/>
        </p:nvSpPr>
        <p:spPr>
          <a:xfrm>
            <a:off x="903743" y="3877745"/>
            <a:ext cx="10983457" cy="1992312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70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 </a:t>
            </a:r>
            <a:r>
              <a:rPr lang="ko-KR" altLang="en-US" sz="1400" b="1">
                <a:cs typeface="Segoe UI Light" panose="020B0502040204020203" pitchFamily="34" charset="0"/>
              </a:rPr>
              <a:t>거주국가와    </a:t>
            </a:r>
            <a:r>
              <a:rPr lang="ko-KR" altLang="en-US" sz="1400" b="1"/>
              <a:t>체류기간</a:t>
            </a:r>
            <a:r>
              <a:rPr lang="en-US" altLang="ko-KR" sz="1400" b="1"/>
              <a:t>(period), </a:t>
            </a:r>
            <a:r>
              <a:rPr lang="ko-KR" altLang="en-US" sz="1400" b="1"/>
              <a:t>지출경비</a:t>
            </a:r>
            <a:r>
              <a:rPr lang="en-US" altLang="ko-KR" sz="1400" b="1"/>
              <a:t>(expense), </a:t>
            </a:r>
            <a:r>
              <a:rPr lang="ko-KR" altLang="en-US" sz="1400" b="1"/>
              <a:t>전반적만족도</a:t>
            </a:r>
            <a:r>
              <a:rPr lang="en-US" altLang="ko-KR" sz="1400" b="1"/>
              <a:t>(overal)</a:t>
            </a:r>
            <a:r>
              <a:rPr lang="ko-KR" altLang="en-US" sz="1400" b="1"/>
              <a:t>의 관계</a:t>
            </a:r>
            <a:endParaRPr lang="en-US" altLang="ko-KR" sz="14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573382-25AF-4782-899B-C2EEE43985D9}"/>
              </a:ext>
            </a:extLst>
          </p:cNvPr>
          <p:cNvSpPr/>
          <p:nvPr/>
        </p:nvSpPr>
        <p:spPr>
          <a:xfrm>
            <a:off x="903743" y="538681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 tmp2</a:t>
            </a:r>
            <a:r>
              <a:rPr lang="ko-KR" altLang="en-US" sz="1200" b="1"/>
              <a:t>자료를 이용하여서 다음과 같이 한화면에 </a:t>
            </a:r>
            <a:r>
              <a:rPr lang="en-US" altLang="ko-KR" sz="1200" b="1"/>
              <a:t>3</a:t>
            </a:r>
            <a:r>
              <a:rPr lang="ko-KR" altLang="en-US" sz="1200" b="1"/>
              <a:t>개의 가로막대 차트가 출력되도록 설정 </a:t>
            </a:r>
            <a:r>
              <a:rPr lang="en-US" altLang="ko-KR" sz="1200" b="1"/>
              <a:t>( </a:t>
            </a:r>
            <a:r>
              <a:rPr lang="ko-KR" altLang="en-US" sz="1200" b="1"/>
              <a:t>모두  평균값</a:t>
            </a:r>
            <a:r>
              <a:rPr lang="en-US" altLang="ko-KR" sz="1200" b="1"/>
              <a:t>:mean  </a:t>
            </a:r>
            <a:r>
              <a:rPr lang="ko-KR" altLang="en-US" sz="1200" b="1"/>
              <a:t>함수를 사용</a:t>
            </a:r>
            <a:r>
              <a:rPr lang="en-US" altLang="ko-KR" sz="1200" b="1"/>
              <a:t>)</a:t>
            </a:r>
            <a:endParaRPr lang="ko-KR" altLang="en-US" sz="1400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070F65-1527-4A04-A176-1FA1CE972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43" y="1215790"/>
            <a:ext cx="9761666" cy="503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1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 </a:t>
            </a:r>
            <a:r>
              <a:rPr lang="ko-KR" altLang="en-US" sz="1400" b="1">
                <a:cs typeface="Segoe UI Light" panose="020B0502040204020203" pitchFamily="34" charset="0"/>
              </a:rPr>
              <a:t>거주국가와    </a:t>
            </a:r>
            <a:r>
              <a:rPr lang="ko-KR" altLang="en-US" sz="1400" b="1"/>
              <a:t>체류기간</a:t>
            </a:r>
            <a:r>
              <a:rPr lang="en-US" altLang="ko-KR" sz="1400" b="1"/>
              <a:t>(period), </a:t>
            </a:r>
            <a:r>
              <a:rPr lang="ko-KR" altLang="en-US" sz="1400" b="1"/>
              <a:t>지출경비</a:t>
            </a:r>
            <a:r>
              <a:rPr lang="en-US" altLang="ko-KR" sz="1400" b="1"/>
              <a:t>(expense), </a:t>
            </a:r>
            <a:r>
              <a:rPr lang="ko-KR" altLang="en-US" sz="1400" b="1"/>
              <a:t>전반적만족도</a:t>
            </a:r>
            <a:r>
              <a:rPr lang="en-US" altLang="ko-KR" sz="1400" b="1"/>
              <a:t>(overal)</a:t>
            </a:r>
            <a:r>
              <a:rPr lang="ko-KR" altLang="en-US" sz="1400" b="1"/>
              <a:t>의 관계</a:t>
            </a:r>
            <a:endParaRPr lang="en-US" altLang="ko-KR" sz="14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573382-25AF-4782-899B-C2EEE43985D9}"/>
              </a:ext>
            </a:extLst>
          </p:cNvPr>
          <p:cNvSpPr/>
          <p:nvPr/>
        </p:nvSpPr>
        <p:spPr>
          <a:xfrm>
            <a:off x="903743" y="538681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 tmp2</a:t>
            </a:r>
            <a:r>
              <a:rPr lang="ko-KR" altLang="en-US" sz="1200" b="1"/>
              <a:t>자료를 이용하여서 다음과 같이 나라단위로 나누어서 기간</a:t>
            </a:r>
            <a:r>
              <a:rPr lang="en-US" altLang="ko-KR" sz="1200" b="1"/>
              <a:t>, </a:t>
            </a:r>
            <a:r>
              <a:rPr lang="ko-KR" altLang="en-US" sz="1200" b="1"/>
              <a:t>경비</a:t>
            </a:r>
            <a:r>
              <a:rPr lang="en-US" altLang="ko-KR" sz="1200" b="1"/>
              <a:t>, </a:t>
            </a:r>
            <a:r>
              <a:rPr lang="ko-KR" altLang="en-US" sz="1200" b="1"/>
              <a:t>만족도의 산점도를 파악</a:t>
            </a:r>
            <a:endParaRPr lang="ko-KR" altLang="en-US" sz="1400" b="1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AC9555-F01D-405B-82FC-214F74390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43" y="1116673"/>
            <a:ext cx="8784502" cy="520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3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566CBA3-8DE2-420C-B708-51AFA22FE930}"/>
              </a:ext>
            </a:extLst>
          </p:cNvPr>
          <p:cNvSpPr txBox="1"/>
          <p:nvPr/>
        </p:nvSpPr>
        <p:spPr>
          <a:xfrm>
            <a:off x="819150" y="1613118"/>
            <a:ext cx="10877550" cy="1815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2800" b="1"/>
              <a:t>가설</a:t>
            </a:r>
            <a:r>
              <a:rPr lang="en-US" altLang="ko-KR" sz="2800" b="1"/>
              <a:t>:</a:t>
            </a:r>
          </a:p>
          <a:p>
            <a:r>
              <a:rPr lang="ko-KR" altLang="en-US" sz="2800" b="1"/>
              <a:t>     거주국가</a:t>
            </a:r>
            <a:r>
              <a:rPr lang="en-US" altLang="ko-KR" sz="2800" b="1"/>
              <a:t>(nat)</a:t>
            </a:r>
            <a:r>
              <a:rPr lang="ko-KR" altLang="en-US" sz="2800" b="1"/>
              <a:t>에 따라 </a:t>
            </a:r>
            <a:endParaRPr lang="en-US" altLang="ko-KR" sz="2800" b="1"/>
          </a:p>
          <a:p>
            <a:r>
              <a:rPr lang="ko-KR" altLang="en-US" sz="2800" b="1"/>
              <a:t>         </a:t>
            </a:r>
            <a:r>
              <a:rPr lang="en-US" altLang="ko-KR" sz="2800" b="1"/>
              <a:t>-</a:t>
            </a:r>
            <a:r>
              <a:rPr lang="ko-KR" altLang="en-US" sz="2800" b="1"/>
              <a:t> 만족한활동</a:t>
            </a:r>
            <a:r>
              <a:rPr lang="en-US" altLang="ko-KR" sz="2800" b="1"/>
              <a:t>(bestact)</a:t>
            </a:r>
            <a:r>
              <a:rPr lang="ko-KR" altLang="en-US" sz="2800" b="1"/>
              <a:t>이 차이가 있다</a:t>
            </a:r>
            <a:r>
              <a:rPr lang="en-US" altLang="ko-KR" sz="2800" b="1"/>
              <a:t>.</a:t>
            </a:r>
          </a:p>
          <a:p>
            <a:r>
              <a:rPr lang="en-US" altLang="ko-KR" sz="2800" b="1"/>
              <a:t>         - </a:t>
            </a:r>
            <a:r>
              <a:rPr lang="ko-KR" altLang="en-US" sz="2800" b="1"/>
              <a:t>동반유형</a:t>
            </a:r>
            <a:r>
              <a:rPr lang="en-US" altLang="ko-KR" sz="2800" b="1"/>
              <a:t>(member)</a:t>
            </a:r>
            <a:r>
              <a:rPr lang="ko-KR" altLang="en-US" sz="2800" b="1"/>
              <a:t>이 차이가 있다</a:t>
            </a:r>
            <a:r>
              <a:rPr lang="en-US" altLang="ko-KR" sz="2800" b="1"/>
              <a:t>.</a:t>
            </a:r>
            <a:endParaRPr lang="ko-KR" altLang="en-US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DB99B-90E6-40C7-A0B4-30F6730E1D69}"/>
              </a:ext>
            </a:extLst>
          </p:cNvPr>
          <p:cNvSpPr txBox="1"/>
          <p:nvPr/>
        </p:nvSpPr>
        <p:spPr>
          <a:xfrm>
            <a:off x="819150" y="3749159"/>
            <a:ext cx="1087755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2800" b="1"/>
              <a:t>파일명</a:t>
            </a:r>
            <a:r>
              <a:rPr lang="en-US" altLang="ko-KR" sz="2800" b="1"/>
              <a:t>: </a:t>
            </a:r>
            <a:r>
              <a:rPr lang="ko-KR" altLang="en-US" sz="2800" b="1"/>
              <a:t>거주국가별</a:t>
            </a:r>
            <a:r>
              <a:rPr lang="en-US" altLang="ko-KR" sz="2800" b="1"/>
              <a:t>_</a:t>
            </a:r>
            <a:r>
              <a:rPr lang="ko-KR" altLang="en-US" sz="2800" b="1"/>
              <a:t>활동</a:t>
            </a:r>
            <a:r>
              <a:rPr lang="en-US" altLang="ko-KR" sz="2800" b="1"/>
              <a:t>_</a:t>
            </a:r>
            <a:r>
              <a:rPr lang="ko-KR" altLang="en-US" sz="2800" b="1"/>
              <a:t>유형</a:t>
            </a:r>
            <a:r>
              <a:rPr lang="en-US" altLang="ko-KR" sz="2800" b="1"/>
              <a:t>_</a:t>
            </a:r>
            <a:r>
              <a:rPr lang="ko-KR" altLang="en-US" sz="2800" b="1"/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2234351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8A8BEA-D3AA-41E2-A426-1920BD3CC01B}"/>
              </a:ext>
            </a:extLst>
          </p:cNvPr>
          <p:cNvSpPr/>
          <p:nvPr/>
        </p:nvSpPr>
        <p:spPr>
          <a:xfrm>
            <a:off x="9913546" y="249936"/>
            <a:ext cx="1403286" cy="3221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/>
              <a:t>ftour.csv</a:t>
            </a:r>
            <a:endParaRPr lang="ko-KR" altLang="en-US" sz="1600" b="1"/>
          </a:p>
        </p:txBody>
      </p:sp>
      <p:sp>
        <p:nvSpPr>
          <p:cNvPr id="12" name="제목 7">
            <a:extLst>
              <a:ext uri="{FF2B5EF4-FFF2-40B4-BE49-F238E27FC236}">
                <a16:creationId xmlns:a16="http://schemas.microsoft.com/office/drawing/2014/main" id="{601340FC-2E39-42C3-8FFA-105019AD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9A06986-9994-4AD7-B1E2-D38F12FDF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11" y="572087"/>
            <a:ext cx="100774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3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7CB6D4E-D7F6-4A4D-ACC3-7A5F87AEAEBD}"/>
              </a:ext>
            </a:extLst>
          </p:cNvPr>
          <p:cNvGrpSpPr/>
          <p:nvPr/>
        </p:nvGrpSpPr>
        <p:grpSpPr>
          <a:xfrm>
            <a:off x="570368" y="823871"/>
            <a:ext cx="10363200" cy="5734050"/>
            <a:chOff x="570368" y="823871"/>
            <a:chExt cx="10363200" cy="5734050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E9C76A07-D2EF-456F-BAD2-31043E9BA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0368" y="823871"/>
              <a:ext cx="10363200" cy="5734050"/>
            </a:xfrm>
            <a:prstGeom prst="rect">
              <a:avLst/>
            </a:prstGeom>
          </p:spPr>
        </p:pic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F4CC77A-8794-4649-8A3F-4977D046AF92}"/>
                </a:ext>
              </a:extLst>
            </p:cNvPr>
            <p:cNvGrpSpPr/>
            <p:nvPr/>
          </p:nvGrpSpPr>
          <p:grpSpPr>
            <a:xfrm>
              <a:off x="977775" y="910657"/>
              <a:ext cx="5350598" cy="2819352"/>
              <a:chOff x="1122630" y="1023041"/>
              <a:chExt cx="5350598" cy="2819352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B3DC89C-E01C-49BA-9C10-0E889D9168A1}"/>
                  </a:ext>
                </a:extLst>
              </p:cNvPr>
              <p:cNvSpPr/>
              <p:nvPr/>
            </p:nvSpPr>
            <p:spPr>
              <a:xfrm>
                <a:off x="1122630" y="1023041"/>
                <a:ext cx="5350598" cy="307777"/>
              </a:xfrm>
              <a:prstGeom prst="rect">
                <a:avLst/>
              </a:prstGeom>
              <a:solidFill>
                <a:srgbClr val="DD46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600" b="1"/>
                  <a:t>[</a:t>
                </a:r>
                <a:r>
                  <a:rPr lang="ko-KR" altLang="en-US" sz="1600" b="1"/>
                  <a:t>미션</a:t>
                </a:r>
                <a:r>
                  <a:rPr lang="en-US" altLang="ko-KR" sz="1600" b="1"/>
                  <a:t>] nat</a:t>
                </a:r>
                <a:r>
                  <a:rPr lang="ko-KR" altLang="en-US" sz="1600" b="1"/>
                  <a:t> 변수의 기술통계   </a:t>
                </a:r>
                <a:r>
                  <a:rPr lang="en-US" altLang="ko-KR" sz="1600" b="1"/>
                  <a:t>(</a:t>
                </a:r>
                <a:r>
                  <a:rPr lang="ko-KR" altLang="en-US" sz="1600" b="1"/>
                  <a:t>구글검색 </a:t>
                </a:r>
                <a:r>
                  <a:rPr lang="en-US" altLang="ko-KR" sz="1600" b="1"/>
                  <a:t>'</a:t>
                </a:r>
                <a:r>
                  <a:rPr lang="ko-KR" altLang="en-US" sz="1600" b="1"/>
                  <a:t>판다스 기술통계</a:t>
                </a:r>
                <a:r>
                  <a:rPr lang="en-US" altLang="ko-KR" sz="1600" b="1"/>
                  <a:t>')</a:t>
                </a:r>
                <a:endParaRPr lang="ko-KR" altLang="en-US" b="1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68F685E-D087-4680-AEC8-19276553B85C}"/>
                  </a:ext>
                </a:extLst>
              </p:cNvPr>
              <p:cNvSpPr/>
              <p:nvPr/>
            </p:nvSpPr>
            <p:spPr>
              <a:xfrm>
                <a:off x="1122630" y="2432717"/>
                <a:ext cx="5350598" cy="307777"/>
              </a:xfrm>
              <a:prstGeom prst="rect">
                <a:avLst/>
              </a:prstGeom>
              <a:solidFill>
                <a:srgbClr val="DD46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600" b="1"/>
                  <a:t>[</a:t>
                </a:r>
                <a:r>
                  <a:rPr lang="ko-KR" altLang="en-US" sz="1600" b="1"/>
                  <a:t>미션</a:t>
                </a:r>
                <a:r>
                  <a:rPr lang="en-US" altLang="ko-KR" sz="1600" b="1"/>
                  <a:t>] nat </a:t>
                </a:r>
                <a:r>
                  <a:rPr lang="ko-KR" altLang="en-US" sz="1600" b="1"/>
                  <a:t>변수의 유일값 찾기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5B199EA5-A3CD-48BA-816B-6B24F88DBCDB}"/>
                  </a:ext>
                </a:extLst>
              </p:cNvPr>
              <p:cNvSpPr/>
              <p:nvPr/>
            </p:nvSpPr>
            <p:spPr>
              <a:xfrm>
                <a:off x="1122630" y="3534616"/>
                <a:ext cx="5350598" cy="307777"/>
              </a:xfrm>
              <a:prstGeom prst="rect">
                <a:avLst/>
              </a:prstGeom>
              <a:solidFill>
                <a:srgbClr val="DD46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600" b="1"/>
                  <a:t>[</a:t>
                </a:r>
                <a:r>
                  <a:rPr lang="ko-KR" altLang="en-US" sz="1600" b="1"/>
                  <a:t>미션</a:t>
                </a:r>
                <a:r>
                  <a:rPr lang="en-US" altLang="ko-KR" sz="1600" b="1"/>
                  <a:t>] nat </a:t>
                </a:r>
                <a:r>
                  <a:rPr lang="ko-KR" altLang="en-US" sz="1600" b="1"/>
                  <a:t>변수별로 그룹묶어서 갯수 세기</a:t>
                </a: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CF65D97-4359-4CE6-82B3-927662172DC3}"/>
              </a:ext>
            </a:extLst>
          </p:cNvPr>
          <p:cNvSpPr txBox="1"/>
          <p:nvPr/>
        </p:nvSpPr>
        <p:spPr>
          <a:xfrm>
            <a:off x="733341" y="507014"/>
            <a:ext cx="2426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거주국가</a:t>
            </a:r>
            <a:r>
              <a:rPr lang="en-US" altLang="ko-KR" sz="1200" b="1"/>
              <a:t>(</a:t>
            </a:r>
            <a:r>
              <a:rPr lang="ko-KR" altLang="en-US" sz="1200" b="1"/>
              <a:t>관광객 국가</a:t>
            </a:r>
            <a:r>
              <a:rPr lang="en-US" altLang="ko-KR" sz="1200" b="1"/>
              <a:t>, nat) </a:t>
            </a:r>
            <a:r>
              <a:rPr lang="ko-KR" altLang="en-US" sz="1200" b="1"/>
              <a:t>분석</a:t>
            </a:r>
            <a:endParaRPr lang="ko-KR" altLang="en-US" sz="16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21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F65D97-4359-4CE6-82B3-927662172DC3}"/>
              </a:ext>
            </a:extLst>
          </p:cNvPr>
          <p:cNvSpPr txBox="1"/>
          <p:nvPr/>
        </p:nvSpPr>
        <p:spPr>
          <a:xfrm>
            <a:off x="733341" y="507036"/>
            <a:ext cx="3552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거주국가</a:t>
            </a:r>
            <a:r>
              <a:rPr lang="en-US" altLang="ko-KR" sz="1200" b="1"/>
              <a:t>(</a:t>
            </a:r>
            <a:r>
              <a:rPr lang="ko-KR" altLang="en-US" sz="1200" b="1"/>
              <a:t>관광객 국가</a:t>
            </a:r>
            <a:r>
              <a:rPr lang="en-US" altLang="ko-KR" sz="1200" b="1"/>
              <a:t>, </a:t>
            </a:r>
            <a:r>
              <a:rPr lang="en-US" altLang="ko-KR" sz="1200" b="1">
                <a:solidFill>
                  <a:srgbClr val="FF0000"/>
                </a:solidFill>
              </a:rPr>
              <a:t>nat</a:t>
            </a:r>
            <a:r>
              <a:rPr lang="en-US" altLang="ko-KR" sz="1200" b="1"/>
              <a:t> </a:t>
            </a:r>
            <a:r>
              <a:rPr lang="ko-KR" altLang="en-US" sz="1200" b="1"/>
              <a:t>변수</a:t>
            </a:r>
            <a:r>
              <a:rPr lang="en-US" altLang="ko-KR" sz="1200" b="1"/>
              <a:t>) </a:t>
            </a:r>
            <a:r>
              <a:rPr lang="ko-KR" altLang="en-US" sz="1200" b="1"/>
              <a:t>분석</a:t>
            </a:r>
            <a:endParaRPr lang="ko-KR" altLang="en-US" sz="16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9EE13B-E216-4556-9F51-06C9A0572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68" y="784013"/>
            <a:ext cx="8347295" cy="586408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557B8B-EB12-44BD-BF0D-FD7A5E866B93}"/>
              </a:ext>
            </a:extLst>
          </p:cNvPr>
          <p:cNvSpPr/>
          <p:nvPr/>
        </p:nvSpPr>
        <p:spPr>
          <a:xfrm>
            <a:off x="674482" y="1978966"/>
            <a:ext cx="8170754" cy="1760115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/>
              <a:t>[</a:t>
            </a:r>
            <a:r>
              <a:rPr lang="ko-KR" altLang="en-US" sz="1600" b="1"/>
              <a:t>미션</a:t>
            </a:r>
            <a:r>
              <a:rPr lang="en-US" altLang="ko-KR" sz="1600" b="1"/>
              <a:t>] </a:t>
            </a:r>
            <a:r>
              <a:rPr lang="ko-KR" altLang="en-US" sz="1600" b="1"/>
              <a:t>국가별 방문자수를 집계내어서 차트 작성</a:t>
            </a:r>
            <a:endParaRPr lang="ko-KR" altLang="en-US" b="1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9032EA-94E5-4319-8ABA-264AB0DB19D4}"/>
              </a:ext>
            </a:extLst>
          </p:cNvPr>
          <p:cNvSpPr/>
          <p:nvPr/>
        </p:nvSpPr>
        <p:spPr>
          <a:xfrm>
            <a:off x="982300" y="898751"/>
            <a:ext cx="7862936" cy="9306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ysClr val="windowText" lastClr="000000"/>
                </a:solidFill>
              </a:rPr>
              <a:t>import numpy as np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import matplotlib.pyplot as plt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plt.rcParams['figure.figsize'] = [20, 6]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plt.rc('font', family='Malgun Gothic')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plt.rcParams['axes.unicode_minus'] = False  #  </a:t>
            </a:r>
            <a:r>
              <a:rPr lang="ko-KR" altLang="en-US" sz="1100">
                <a:solidFill>
                  <a:sysClr val="windowText" lastClr="000000"/>
                </a:solidFill>
              </a:rPr>
              <a:t>한글폰트 사용시 그래프에서 마이너스 폰트 깨지는 문제에 대한 대처</a:t>
            </a:r>
            <a:endParaRPr lang="ko-KR" altLang="en-US" sz="1200">
              <a:solidFill>
                <a:sysClr val="windowText" lastClr="000000"/>
              </a:solidFill>
            </a:endParaRPr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6F1BC7BB-5114-4A62-86DF-6B644018A4E9}"/>
              </a:ext>
            </a:extLst>
          </p:cNvPr>
          <p:cNvSpPr/>
          <p:nvPr/>
        </p:nvSpPr>
        <p:spPr>
          <a:xfrm>
            <a:off x="9370337" y="898751"/>
            <a:ext cx="2088322" cy="658445"/>
          </a:xfrm>
          <a:prstGeom prst="wedgeRectCallout">
            <a:avLst>
              <a:gd name="adj1" fmla="val -91847"/>
              <a:gd name="adj2" fmla="val 1611"/>
            </a:avLst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코드복사해서 사용</a:t>
            </a:r>
          </a:p>
        </p:txBody>
      </p:sp>
      <p:sp>
        <p:nvSpPr>
          <p:cNvPr id="24" name="말풍선: 사각형 23">
            <a:extLst>
              <a:ext uri="{FF2B5EF4-FFF2-40B4-BE49-F238E27FC236}">
                <a16:creationId xmlns:a16="http://schemas.microsoft.com/office/drawing/2014/main" id="{9FF2738E-8A7D-49EF-8358-C0ED2C178F60}"/>
              </a:ext>
            </a:extLst>
          </p:cNvPr>
          <p:cNvSpPr/>
          <p:nvPr/>
        </p:nvSpPr>
        <p:spPr>
          <a:xfrm>
            <a:off x="9366194" y="2529800"/>
            <a:ext cx="2088322" cy="1209281"/>
          </a:xfrm>
          <a:prstGeom prst="wedgeRectCallout">
            <a:avLst>
              <a:gd name="adj1" fmla="val -91847"/>
              <a:gd name="adj2" fmla="val 1611"/>
            </a:avLst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참고</a:t>
            </a:r>
            <a:r>
              <a:rPr lang="en-US" altLang="ko-KR" b="1"/>
              <a:t>:</a:t>
            </a:r>
          </a:p>
          <a:p>
            <a:pPr algn="ctr"/>
            <a:r>
              <a:rPr lang="ko-KR" altLang="en-US" b="1"/>
              <a:t>판다스그룹 및 차트</a:t>
            </a:r>
            <a:r>
              <a:rPr lang="en-US" altLang="ko-KR" b="1"/>
              <a:t>.html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79139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F65D97-4359-4CE6-82B3-927662172DC3}"/>
              </a:ext>
            </a:extLst>
          </p:cNvPr>
          <p:cNvSpPr txBox="1"/>
          <p:nvPr/>
        </p:nvSpPr>
        <p:spPr>
          <a:xfrm>
            <a:off x="733341" y="507036"/>
            <a:ext cx="3552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동반유형</a:t>
            </a:r>
            <a:r>
              <a:rPr lang="en-US" altLang="ko-KR" sz="1200" b="1"/>
              <a:t>(</a:t>
            </a:r>
            <a:r>
              <a:rPr lang="ko-KR" altLang="en-US" sz="1200" b="1"/>
              <a:t> </a:t>
            </a:r>
            <a:r>
              <a:rPr lang="en-US" altLang="ko-KR" sz="1200" b="1">
                <a:solidFill>
                  <a:srgbClr val="FF0000"/>
                </a:solidFill>
              </a:rPr>
              <a:t>member</a:t>
            </a:r>
            <a:r>
              <a:rPr lang="en-US" altLang="ko-KR" sz="1200" b="1"/>
              <a:t> </a:t>
            </a:r>
            <a:r>
              <a:rPr lang="ko-KR" altLang="en-US" sz="1200" b="1"/>
              <a:t>변수</a:t>
            </a:r>
            <a:r>
              <a:rPr lang="en-US" altLang="ko-KR" sz="1200" b="1"/>
              <a:t>) </a:t>
            </a:r>
            <a:r>
              <a:rPr lang="ko-KR" altLang="en-US" sz="1200" b="1"/>
              <a:t>분석</a:t>
            </a:r>
            <a:endParaRPr lang="ko-KR" altLang="en-US" sz="16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EDF421-F9F5-4CB9-95A6-889A0460DB35}"/>
              </a:ext>
            </a:extLst>
          </p:cNvPr>
          <p:cNvGrpSpPr/>
          <p:nvPr/>
        </p:nvGrpSpPr>
        <p:grpSpPr>
          <a:xfrm>
            <a:off x="570369" y="1014129"/>
            <a:ext cx="4744016" cy="3186679"/>
            <a:chOff x="570368" y="1014129"/>
            <a:chExt cx="6083929" cy="374332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FD91C65-B200-4AB0-883E-23355DAB17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1832"/>
            <a:stretch/>
          </p:blipFill>
          <p:spPr>
            <a:xfrm>
              <a:off x="570368" y="1014129"/>
              <a:ext cx="6083929" cy="3743325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50E2FF-B5DC-4EDA-A445-DA6890215B25}"/>
                </a:ext>
              </a:extLst>
            </p:cNvPr>
            <p:cNvSpPr/>
            <p:nvPr/>
          </p:nvSpPr>
          <p:spPr>
            <a:xfrm>
              <a:off x="1299803" y="1084735"/>
              <a:ext cx="5350598" cy="307777"/>
            </a:xfrm>
            <a:prstGeom prst="rect">
              <a:avLst/>
            </a:prstGeom>
            <a:solidFill>
              <a:srgbClr val="DD46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/>
                <a:t>[</a:t>
              </a:r>
              <a:r>
                <a:rPr lang="ko-KR" altLang="en-US" sz="1400" b="1"/>
                <a:t>미션</a:t>
              </a:r>
              <a:r>
                <a:rPr lang="en-US" altLang="ko-KR" sz="1400" b="1"/>
                <a:t>]</a:t>
              </a:r>
              <a:endParaRPr lang="ko-KR" altLang="en-US" sz="1400" b="1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D9DC378-B593-40B2-A664-7B9E9E8A9736}"/>
                </a:ext>
              </a:extLst>
            </p:cNvPr>
            <p:cNvSpPr/>
            <p:nvPr/>
          </p:nvSpPr>
          <p:spPr>
            <a:xfrm>
              <a:off x="1299803" y="2460862"/>
              <a:ext cx="5350598" cy="307777"/>
            </a:xfrm>
            <a:prstGeom prst="rect">
              <a:avLst/>
            </a:prstGeom>
            <a:solidFill>
              <a:srgbClr val="DD46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/>
                <a:t>[</a:t>
              </a:r>
              <a:r>
                <a:rPr lang="ko-KR" altLang="en-US" sz="1400" b="1"/>
                <a:t>미션</a:t>
              </a:r>
              <a:r>
                <a:rPr lang="en-US" altLang="ko-KR" sz="1400" b="1"/>
                <a:t>]</a:t>
              </a:r>
              <a:endParaRPr lang="ko-KR" altLang="en-US" sz="1400" b="1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14D65D2-814F-40B4-B0F2-7023BBD5C924}"/>
                </a:ext>
              </a:extLst>
            </p:cNvPr>
            <p:cNvSpPr/>
            <p:nvPr/>
          </p:nvSpPr>
          <p:spPr>
            <a:xfrm>
              <a:off x="1299803" y="3121223"/>
              <a:ext cx="5350598" cy="307777"/>
            </a:xfrm>
            <a:prstGeom prst="rect">
              <a:avLst/>
            </a:prstGeom>
            <a:solidFill>
              <a:srgbClr val="DD46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/>
                <a:t>[</a:t>
              </a:r>
              <a:r>
                <a:rPr lang="ko-KR" altLang="en-US" sz="1400" b="1"/>
                <a:t>미션</a:t>
              </a:r>
              <a:r>
                <a:rPr lang="en-US" altLang="ko-KR" sz="1400" b="1"/>
                <a:t>]</a:t>
              </a:r>
              <a:endParaRPr lang="ko-KR" altLang="en-US" sz="1400" b="1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D11ED628-DEAB-44E7-9A2F-AF962CC13DF9}"/>
              </a:ext>
            </a:extLst>
          </p:cNvPr>
          <p:cNvGrpSpPr/>
          <p:nvPr/>
        </p:nvGrpSpPr>
        <p:grpSpPr>
          <a:xfrm>
            <a:off x="5839912" y="1002373"/>
            <a:ext cx="5781719" cy="3285383"/>
            <a:chOff x="5839912" y="1002373"/>
            <a:chExt cx="5781719" cy="328538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8C82581-9600-4CA4-9BB1-62AB1BDD9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9913" y="2245728"/>
              <a:ext cx="5781718" cy="2042028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0635FA4-D599-44A2-B122-ACA4DABD3AC6}"/>
                </a:ext>
              </a:extLst>
            </p:cNvPr>
            <p:cNvSpPr/>
            <p:nvPr/>
          </p:nvSpPr>
          <p:spPr>
            <a:xfrm>
              <a:off x="5839912" y="1002373"/>
              <a:ext cx="5781717" cy="1212576"/>
            </a:xfrm>
            <a:prstGeom prst="rect">
              <a:avLst/>
            </a:prstGeom>
            <a:solidFill>
              <a:srgbClr val="DD46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/>
                <a:t>[</a:t>
              </a:r>
              <a:r>
                <a:rPr lang="ko-KR" altLang="en-US" b="1"/>
                <a:t>미션</a:t>
              </a:r>
              <a:r>
                <a:rPr lang="en-US" altLang="ko-KR" b="1"/>
                <a:t>]</a:t>
              </a:r>
              <a:endParaRPr lang="ko-KR" alt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391396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F65D97-4359-4CE6-82B3-927662172DC3}"/>
              </a:ext>
            </a:extLst>
          </p:cNvPr>
          <p:cNvSpPr txBox="1"/>
          <p:nvPr/>
        </p:nvSpPr>
        <p:spPr>
          <a:xfrm>
            <a:off x="733341" y="507036"/>
            <a:ext cx="6686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동반유형</a:t>
            </a:r>
            <a:r>
              <a:rPr lang="en-US" altLang="ko-KR" sz="1200" b="1"/>
              <a:t>(</a:t>
            </a:r>
            <a:r>
              <a:rPr lang="ko-KR" altLang="en-US" sz="1200" b="1"/>
              <a:t> </a:t>
            </a:r>
            <a:r>
              <a:rPr lang="en-US" altLang="ko-KR" sz="1200" b="1">
                <a:solidFill>
                  <a:srgbClr val="FF0000"/>
                </a:solidFill>
              </a:rPr>
              <a:t>member</a:t>
            </a:r>
            <a:r>
              <a:rPr lang="en-US" altLang="ko-KR" sz="1200" b="1"/>
              <a:t> </a:t>
            </a:r>
            <a:r>
              <a:rPr lang="ko-KR" altLang="en-US" sz="1200" b="1"/>
              <a:t>변수</a:t>
            </a:r>
            <a:r>
              <a:rPr lang="en-US" altLang="ko-KR" sz="1200" b="1"/>
              <a:t>) </a:t>
            </a:r>
            <a:r>
              <a:rPr lang="ko-KR" altLang="en-US" sz="1200" b="1"/>
              <a:t>분석   </a:t>
            </a:r>
            <a:r>
              <a:rPr lang="en-US" altLang="ko-KR" sz="1200" b="1"/>
              <a:t>(</a:t>
            </a:r>
            <a:r>
              <a:rPr lang="ko-KR" altLang="en-US" sz="1200" b="1"/>
              <a:t>노란색 도형안의 코드를 복사하여 실행하여 봅니다</a:t>
            </a:r>
            <a:r>
              <a:rPr lang="en-US" altLang="ko-KR" sz="1200" b="1"/>
              <a:t>.)</a:t>
            </a:r>
            <a:endParaRPr lang="ko-KR" altLang="en-US" sz="16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93A1132-EAF1-40DC-98D0-B995D2772995}"/>
              </a:ext>
            </a:extLst>
          </p:cNvPr>
          <p:cNvGrpSpPr/>
          <p:nvPr/>
        </p:nvGrpSpPr>
        <p:grpSpPr>
          <a:xfrm>
            <a:off x="570368" y="885419"/>
            <a:ext cx="5875516" cy="4954977"/>
            <a:chOff x="570368" y="885419"/>
            <a:chExt cx="5875516" cy="49549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F3B11F5-BC01-49B9-9088-5A4AD375CD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741" b="12216"/>
            <a:stretch/>
          </p:blipFill>
          <p:spPr>
            <a:xfrm>
              <a:off x="570368" y="885419"/>
              <a:ext cx="5875516" cy="4954977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73D4B70-20D2-42EC-A29F-875C286F3F98}"/>
                </a:ext>
              </a:extLst>
            </p:cNvPr>
            <p:cNvSpPr/>
            <p:nvPr/>
          </p:nvSpPr>
          <p:spPr>
            <a:xfrm>
              <a:off x="887238" y="1017604"/>
              <a:ext cx="2522711" cy="2461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b="1">
                  <a:solidFill>
                    <a:srgbClr val="FF0000"/>
                  </a:solidFill>
                </a:rPr>
                <a:t>tmp=df.groupby('member').member.count()</a:t>
              </a:r>
            </a:p>
            <a:p>
              <a:r>
                <a:rPr lang="en-US" altLang="ko-KR" sz="800" b="1">
                  <a:solidFill>
                    <a:srgbClr val="FF0000"/>
                  </a:solidFill>
                </a:rPr>
                <a:t>tmp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ECA6680-8F25-443D-B1D9-14575C09FD78}"/>
                </a:ext>
              </a:extLst>
            </p:cNvPr>
            <p:cNvSpPr/>
            <p:nvPr/>
          </p:nvSpPr>
          <p:spPr>
            <a:xfrm>
              <a:off x="887239" y="2411838"/>
              <a:ext cx="2381062" cy="2461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b="1">
                  <a:solidFill>
                    <a:srgbClr val="FF0000"/>
                  </a:solidFill>
                </a:rPr>
                <a:t>tmp.index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746487D-5C59-445D-BDCA-DFB79A0BECE1}"/>
                </a:ext>
              </a:extLst>
            </p:cNvPr>
            <p:cNvSpPr/>
            <p:nvPr/>
          </p:nvSpPr>
          <p:spPr>
            <a:xfrm>
              <a:off x="887239" y="2953529"/>
              <a:ext cx="2381062" cy="2461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b="1">
                  <a:solidFill>
                    <a:srgbClr val="FF0000"/>
                  </a:solidFill>
                </a:rPr>
                <a:t>tmp[0:]   #tmp</a:t>
              </a:r>
              <a:r>
                <a:rPr lang="ko-KR" altLang="en-US" sz="800" b="1">
                  <a:solidFill>
                    <a:srgbClr val="FF0000"/>
                  </a:solidFill>
                </a:rPr>
                <a:t>와 같음</a:t>
              </a:r>
              <a:endParaRPr lang="en-US" altLang="ko-KR" sz="800" b="1">
                <a:solidFill>
                  <a:srgbClr val="FF00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CEE1EE5-4A86-4AE5-BD4C-E8C35C24E72C}"/>
                </a:ext>
              </a:extLst>
            </p:cNvPr>
            <p:cNvSpPr/>
            <p:nvPr/>
          </p:nvSpPr>
          <p:spPr>
            <a:xfrm>
              <a:off x="887239" y="4320602"/>
              <a:ext cx="2109458" cy="6859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b="1">
                  <a:solidFill>
                    <a:srgbClr val="FF0000"/>
                  </a:solidFill>
                </a:rPr>
                <a:t>per=[]</a:t>
              </a:r>
            </a:p>
            <a:p>
              <a:r>
                <a:rPr lang="en-US" altLang="ko-KR" sz="800" b="1">
                  <a:solidFill>
                    <a:srgbClr val="FF0000"/>
                  </a:solidFill>
                </a:rPr>
                <a:t>for i in tmp:</a:t>
              </a:r>
            </a:p>
            <a:p>
              <a:r>
                <a:rPr lang="en-US" altLang="ko-KR" sz="800" b="1">
                  <a:solidFill>
                    <a:srgbClr val="FF0000"/>
                  </a:solidFill>
                </a:rPr>
                <a:t>    percent=(i/sum(tmp))*100</a:t>
              </a:r>
            </a:p>
            <a:p>
              <a:r>
                <a:rPr lang="en-US" altLang="ko-KR" sz="800" b="1">
                  <a:solidFill>
                    <a:srgbClr val="FF0000"/>
                  </a:solidFill>
                </a:rPr>
                <a:t>    per.append(percent) </a:t>
              </a:r>
            </a:p>
            <a:p>
              <a:r>
                <a:rPr lang="en-US" altLang="ko-KR" sz="800" b="1">
                  <a:solidFill>
                    <a:srgbClr val="FF0000"/>
                  </a:solidFill>
                </a:rPr>
                <a:t>per</a:t>
              </a: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8078556F-67C1-445D-B3F7-3A36EBAF75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86"/>
          <a:stretch/>
        </p:blipFill>
        <p:spPr>
          <a:xfrm>
            <a:off x="6762755" y="885419"/>
            <a:ext cx="4644289" cy="280035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232C88-62BE-4AD0-921A-DC942C2A54BB}"/>
              </a:ext>
            </a:extLst>
          </p:cNvPr>
          <p:cNvSpPr/>
          <p:nvPr/>
        </p:nvSpPr>
        <p:spPr>
          <a:xfrm>
            <a:off x="7170342" y="1017604"/>
            <a:ext cx="4236702" cy="5305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rgbClr val="FF0000"/>
                </a:solidFill>
              </a:rPr>
              <a:t>memberDesc={'count':tmp,'percent':per }</a:t>
            </a:r>
          </a:p>
          <a:p>
            <a:r>
              <a:rPr lang="en-US" altLang="ko-KR" sz="800" b="1">
                <a:solidFill>
                  <a:srgbClr val="FF0000"/>
                </a:solidFill>
              </a:rPr>
              <a:t>memberDesc</a:t>
            </a:r>
          </a:p>
          <a:p>
            <a:r>
              <a:rPr lang="en-US" altLang="ko-KR" sz="800" b="1">
                <a:solidFill>
                  <a:srgbClr val="FF0000"/>
                </a:solidFill>
              </a:rPr>
              <a:t>pd.DataFrame(memberDesc)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E264F5-D49F-4BB0-8E25-28FF938FDE9A}"/>
              </a:ext>
            </a:extLst>
          </p:cNvPr>
          <p:cNvSpPr/>
          <p:nvPr/>
        </p:nvSpPr>
        <p:spPr>
          <a:xfrm>
            <a:off x="6762755" y="3775295"/>
            <a:ext cx="4542006" cy="2065101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/>
              <a:t>[</a:t>
            </a:r>
            <a:r>
              <a:rPr lang="ko-KR" altLang="en-US" sz="1600" b="1"/>
              <a:t>미션</a:t>
            </a:r>
            <a:r>
              <a:rPr lang="en-US" altLang="ko-KR" sz="1600" b="1"/>
              <a:t>] </a:t>
            </a:r>
            <a:r>
              <a:rPr lang="ko-KR" altLang="en-US" sz="1600" b="1"/>
              <a:t>방문국가</a:t>
            </a:r>
            <a:r>
              <a:rPr lang="en-US" altLang="ko-KR" sz="1600" b="1"/>
              <a:t>(nat)</a:t>
            </a:r>
            <a:r>
              <a:rPr lang="ko-KR" altLang="en-US" sz="1600" b="1"/>
              <a:t>도 백분율 분석 </a:t>
            </a:r>
            <a:endParaRPr lang="en-US" altLang="ko-KR" sz="1600" b="1"/>
          </a:p>
          <a:p>
            <a:r>
              <a:rPr lang="ko-KR" altLang="en-US" sz="1600" b="1"/>
              <a:t>실행합니다</a:t>
            </a:r>
            <a:r>
              <a:rPr lang="en-US" altLang="ko-KR" sz="1600" b="1"/>
              <a:t>.</a:t>
            </a:r>
          </a:p>
          <a:p>
            <a:endParaRPr lang="en-US" altLang="ko-KR" sz="1600" b="1"/>
          </a:p>
        </p:txBody>
      </p:sp>
      <p:sp>
        <p:nvSpPr>
          <p:cNvPr id="27" name="말풍선: 사각형 26">
            <a:extLst>
              <a:ext uri="{FF2B5EF4-FFF2-40B4-BE49-F238E27FC236}">
                <a16:creationId xmlns:a16="http://schemas.microsoft.com/office/drawing/2014/main" id="{FE102BD5-EC00-4A1C-9CD1-4FFDEA984CA8}"/>
              </a:ext>
            </a:extLst>
          </p:cNvPr>
          <p:cNvSpPr/>
          <p:nvPr/>
        </p:nvSpPr>
        <p:spPr>
          <a:xfrm>
            <a:off x="3666306" y="4320602"/>
            <a:ext cx="2779577" cy="685963"/>
          </a:xfrm>
          <a:prstGeom prst="wedgeRectCallout">
            <a:avLst>
              <a:gd name="adj1" fmla="val -91847"/>
              <a:gd name="adj2" fmla="val 1611"/>
            </a:avLst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/>
              <a:t>판다스에서</a:t>
            </a:r>
            <a:endParaRPr lang="en-US" altLang="ko-KR" sz="900" b="1"/>
          </a:p>
          <a:p>
            <a:pPr algn="ctr"/>
            <a:r>
              <a:rPr lang="ko-KR" altLang="en-US" sz="900" b="1"/>
              <a:t>백분율 계산 좀더 쉽게 됨</a:t>
            </a:r>
            <a:r>
              <a:rPr lang="en-US" altLang="ko-KR" sz="900" b="1"/>
              <a:t>.</a:t>
            </a:r>
          </a:p>
          <a:p>
            <a:pPr algn="ctr"/>
            <a:r>
              <a:rPr lang="ko-KR" altLang="en-US" sz="900" b="1"/>
              <a:t>이자료는  </a:t>
            </a:r>
            <a:r>
              <a:rPr lang="en-US" altLang="ko-KR" sz="900" b="1"/>
              <a:t>for</a:t>
            </a:r>
            <a:r>
              <a:rPr lang="ko-KR" altLang="en-US" sz="900" b="1"/>
              <a:t>를 활용해보기위하여 작성된 코드임</a:t>
            </a:r>
          </a:p>
        </p:txBody>
      </p:sp>
    </p:spTree>
    <p:extLst>
      <p:ext uri="{BB962C8B-B14F-4D97-AF65-F5344CB8AC3E}">
        <p14:creationId xmlns:p14="http://schemas.microsoft.com/office/powerpoint/2010/main" val="258538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F65D97-4359-4CE6-82B3-927662172DC3}"/>
              </a:ext>
            </a:extLst>
          </p:cNvPr>
          <p:cNvSpPr txBox="1"/>
          <p:nvPr/>
        </p:nvSpPr>
        <p:spPr>
          <a:xfrm>
            <a:off x="733341" y="507036"/>
            <a:ext cx="3552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만족한활동</a:t>
            </a:r>
            <a:r>
              <a:rPr lang="en-US" altLang="ko-KR" sz="1200" b="1"/>
              <a:t>(</a:t>
            </a:r>
            <a:r>
              <a:rPr lang="en-US" altLang="ko-KR" sz="1200" b="1">
                <a:solidFill>
                  <a:srgbClr val="FF0000"/>
                </a:solidFill>
              </a:rPr>
              <a:t>bestact</a:t>
            </a:r>
            <a:r>
              <a:rPr lang="en-US" altLang="ko-KR" sz="1200" b="1"/>
              <a:t> </a:t>
            </a:r>
            <a:r>
              <a:rPr lang="ko-KR" altLang="en-US" sz="1200" b="1"/>
              <a:t>변수</a:t>
            </a:r>
            <a:r>
              <a:rPr lang="en-US" altLang="ko-KR" sz="1200" b="1"/>
              <a:t>) </a:t>
            </a:r>
            <a:r>
              <a:rPr lang="ko-KR" altLang="en-US" sz="1200" b="1"/>
              <a:t>분석</a:t>
            </a:r>
            <a:endParaRPr lang="ko-KR" altLang="en-US" sz="16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40ABDD-FB53-4A10-B81A-0715DF7EC4C8}"/>
              </a:ext>
            </a:extLst>
          </p:cNvPr>
          <p:cNvSpPr/>
          <p:nvPr/>
        </p:nvSpPr>
        <p:spPr>
          <a:xfrm>
            <a:off x="570368" y="823031"/>
            <a:ext cx="11153870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빈도수와 백분율</a:t>
            </a:r>
            <a:r>
              <a:rPr lang="en-US" altLang="ko-KR" sz="1200" b="1"/>
              <a:t>, bar</a:t>
            </a:r>
            <a:r>
              <a:rPr lang="ko-KR" altLang="en-US" sz="1200" b="1"/>
              <a:t>차트를 작성하여 결과를 아래  파란색 테두리 안에 붙여넣기 하며 차트결과를 저장합니다</a:t>
            </a:r>
            <a:r>
              <a:rPr lang="en-US" altLang="ko-KR" sz="1200" b="1"/>
              <a:t>.</a:t>
            </a:r>
            <a:endParaRPr lang="ko-KR" altLang="en-US" sz="1400" b="1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024E06-DA24-4C59-A2B7-7C9B4E2CF11A}"/>
              </a:ext>
            </a:extLst>
          </p:cNvPr>
          <p:cNvSpPr/>
          <p:nvPr/>
        </p:nvSpPr>
        <p:spPr>
          <a:xfrm>
            <a:off x="570368" y="1195059"/>
            <a:ext cx="11153870" cy="532343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320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F65D97-4359-4CE6-82B3-927662172DC3}"/>
              </a:ext>
            </a:extLst>
          </p:cNvPr>
          <p:cNvSpPr txBox="1"/>
          <p:nvPr/>
        </p:nvSpPr>
        <p:spPr>
          <a:xfrm>
            <a:off x="733341" y="507036"/>
            <a:ext cx="3552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만족한활동</a:t>
            </a:r>
            <a:r>
              <a:rPr lang="en-US" altLang="ko-KR" sz="1200" b="1"/>
              <a:t>(</a:t>
            </a:r>
            <a:r>
              <a:rPr lang="en-US" altLang="ko-KR" sz="1200" b="1">
                <a:solidFill>
                  <a:srgbClr val="FF0000"/>
                </a:solidFill>
              </a:rPr>
              <a:t>bestact</a:t>
            </a:r>
            <a:r>
              <a:rPr lang="en-US" altLang="ko-KR" sz="1200" b="1"/>
              <a:t> </a:t>
            </a:r>
            <a:r>
              <a:rPr lang="ko-KR" altLang="en-US" sz="1200" b="1"/>
              <a:t>변수</a:t>
            </a:r>
            <a:r>
              <a:rPr lang="en-US" altLang="ko-KR" sz="1200" b="1"/>
              <a:t>) </a:t>
            </a:r>
            <a:r>
              <a:rPr lang="ko-KR" altLang="en-US" sz="1200" b="1"/>
              <a:t>분석</a:t>
            </a:r>
            <a:endParaRPr lang="ko-KR" altLang="en-US" sz="16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40ABDD-FB53-4A10-B81A-0715DF7EC4C8}"/>
              </a:ext>
            </a:extLst>
          </p:cNvPr>
          <p:cNvSpPr/>
          <p:nvPr/>
        </p:nvSpPr>
        <p:spPr>
          <a:xfrm>
            <a:off x="570368" y="823031"/>
            <a:ext cx="11153870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슬라이드 </a:t>
            </a:r>
            <a:r>
              <a:rPr lang="en-US" altLang="ko-KR" sz="1200" b="1"/>
              <a:t>9</a:t>
            </a:r>
            <a:r>
              <a:rPr lang="ko-KR" altLang="en-US" sz="1200" b="1"/>
              <a:t>번의 차트결과의 문제점을 파악하고</a:t>
            </a:r>
            <a:r>
              <a:rPr lang="en-US" altLang="ko-KR" sz="1200" b="1"/>
              <a:t>, </a:t>
            </a:r>
            <a:r>
              <a:rPr lang="ko-KR" altLang="en-US" sz="1200" b="1"/>
              <a:t>어떻게 변경하면 가독성이 좋을지를 고민하여 봅니다</a:t>
            </a:r>
            <a:r>
              <a:rPr lang="en-US" altLang="ko-KR" sz="1200" b="1"/>
              <a:t>.</a:t>
            </a:r>
            <a:endParaRPr lang="ko-KR" altLang="en-US" sz="1400" b="1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024E06-DA24-4C59-A2B7-7C9B4E2CF11A}"/>
              </a:ext>
            </a:extLst>
          </p:cNvPr>
          <p:cNvSpPr/>
          <p:nvPr/>
        </p:nvSpPr>
        <p:spPr>
          <a:xfrm>
            <a:off x="570368" y="1195059"/>
            <a:ext cx="11153870" cy="5323437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1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F65D97-4359-4CE6-82B3-927662172DC3}"/>
              </a:ext>
            </a:extLst>
          </p:cNvPr>
          <p:cNvSpPr txBox="1"/>
          <p:nvPr/>
        </p:nvSpPr>
        <p:spPr>
          <a:xfrm>
            <a:off x="733341" y="507036"/>
            <a:ext cx="5712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거주국가</a:t>
            </a:r>
            <a:r>
              <a:rPr lang="en-US" altLang="ko-KR" sz="1200" b="1"/>
              <a:t>(nat)</a:t>
            </a:r>
            <a:r>
              <a:rPr lang="ko-KR" altLang="en-US" sz="1200" b="1"/>
              <a:t>별 동반유형</a:t>
            </a:r>
            <a:r>
              <a:rPr lang="en-US" altLang="ko-KR" sz="1200" b="1"/>
              <a:t>(member)</a:t>
            </a:r>
            <a:r>
              <a:rPr lang="ko-KR" altLang="en-US" sz="1200" b="1"/>
              <a:t>의 인원수 </a:t>
            </a:r>
            <a:r>
              <a:rPr lang="en-US" altLang="ko-KR" sz="1200" b="1"/>
              <a:t>(</a:t>
            </a:r>
            <a:r>
              <a:rPr lang="ko-KR" altLang="en-US" sz="1200" b="1"/>
              <a:t>피벗테이블을 이용한 집계</a:t>
            </a:r>
            <a:r>
              <a:rPr lang="en-US" altLang="ko-KR" sz="1200" b="1"/>
              <a:t>)</a:t>
            </a:r>
            <a:endParaRPr lang="ko-KR" altLang="en-US" sz="1600" b="1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037FD0C-87EA-46A3-A1E3-D5CCDC389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33" y="1625114"/>
            <a:ext cx="8858250" cy="380047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FA53CC-2BF8-4155-9C37-3503E59F6AB4}"/>
              </a:ext>
            </a:extLst>
          </p:cNvPr>
          <p:cNvSpPr/>
          <p:nvPr/>
        </p:nvSpPr>
        <p:spPr>
          <a:xfrm>
            <a:off x="1267389" y="1655892"/>
            <a:ext cx="8133125" cy="5600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ysClr val="windowText" lastClr="000000"/>
                </a:solidFill>
              </a:rPr>
              <a:t>pivot_nat_mem = df.pivot_table( values = "id" , index="nat" , columns ="member", aggfunc="count", fill_value=0 )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display(pivot_nat_mem)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pivot_nat_mem.to_csv('./output/</a:t>
            </a:r>
            <a:r>
              <a:rPr lang="ko-KR" altLang="en-US" sz="1100">
                <a:solidFill>
                  <a:sysClr val="windowText" lastClr="000000"/>
                </a:solidFill>
              </a:rPr>
              <a:t>국가별</a:t>
            </a:r>
            <a:r>
              <a:rPr lang="en-US" altLang="ko-KR" sz="1100">
                <a:solidFill>
                  <a:sysClr val="windowText" lastClr="000000"/>
                </a:solidFill>
              </a:rPr>
              <a:t>_</a:t>
            </a:r>
            <a:r>
              <a:rPr lang="ko-KR" altLang="en-US" sz="1100">
                <a:solidFill>
                  <a:sysClr val="windowText" lastClr="000000"/>
                </a:solidFill>
              </a:rPr>
              <a:t>동반자인원수</a:t>
            </a:r>
            <a:r>
              <a:rPr lang="en-US" altLang="ko-KR" sz="1100">
                <a:solidFill>
                  <a:sysClr val="windowText" lastClr="000000"/>
                </a:solidFill>
              </a:rPr>
              <a:t>.csv')  #</a:t>
            </a:r>
            <a:r>
              <a:rPr lang="ko-KR" altLang="en-US" sz="1100">
                <a:solidFill>
                  <a:sysClr val="windowText" lastClr="000000"/>
                </a:solidFill>
              </a:rPr>
              <a:t>피벗테이블 내용 저장됨</a:t>
            </a:r>
            <a:endParaRPr lang="en-US" altLang="ko-KR" sz="1100">
              <a:solidFill>
                <a:sysClr val="windowText" lastClr="000000"/>
              </a:solidFill>
            </a:endParaRPr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1B4BC84C-B1BC-4CCE-B882-CA18C3D58E8A}"/>
              </a:ext>
            </a:extLst>
          </p:cNvPr>
          <p:cNvSpPr/>
          <p:nvPr/>
        </p:nvSpPr>
        <p:spPr>
          <a:xfrm>
            <a:off x="4638015" y="2415688"/>
            <a:ext cx="1543050" cy="381000"/>
          </a:xfrm>
          <a:prstGeom prst="wedgeRectCallout">
            <a:avLst>
              <a:gd name="adj1" fmla="val -79359"/>
              <a:gd name="adj2" fmla="val -75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[3] columns</a:t>
            </a:r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351EBC-452E-45F0-AD60-AD05E549FBA6}"/>
              </a:ext>
            </a:extLst>
          </p:cNvPr>
          <p:cNvSpPr/>
          <p:nvPr/>
        </p:nvSpPr>
        <p:spPr>
          <a:xfrm>
            <a:off x="1675740" y="2386534"/>
            <a:ext cx="2438400" cy="321612"/>
          </a:xfrm>
          <a:prstGeom prst="rect">
            <a:avLst/>
          </a:prstGeom>
          <a:noFill/>
          <a:ln w="38100">
            <a:solidFill>
              <a:srgbClr val="DD46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말풍선: 사각형 19">
            <a:extLst>
              <a:ext uri="{FF2B5EF4-FFF2-40B4-BE49-F238E27FC236}">
                <a16:creationId xmlns:a16="http://schemas.microsoft.com/office/drawing/2014/main" id="{A38DD5D5-BD1F-4E9E-A7A4-1422BF27E4AA}"/>
              </a:ext>
            </a:extLst>
          </p:cNvPr>
          <p:cNvSpPr/>
          <p:nvPr/>
        </p:nvSpPr>
        <p:spPr>
          <a:xfrm>
            <a:off x="1675740" y="5877188"/>
            <a:ext cx="1543050" cy="381000"/>
          </a:xfrm>
          <a:prstGeom prst="wedgeRectCallout">
            <a:avLst>
              <a:gd name="adj1" fmla="val -63927"/>
              <a:gd name="adj2" fmla="val -1925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[2] index</a:t>
            </a:r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05EBE1-0F36-441D-B63B-D0F8E75BD3AC}"/>
              </a:ext>
            </a:extLst>
          </p:cNvPr>
          <p:cNvSpPr/>
          <p:nvPr/>
        </p:nvSpPr>
        <p:spPr>
          <a:xfrm>
            <a:off x="1054163" y="2939533"/>
            <a:ext cx="621577" cy="2365048"/>
          </a:xfrm>
          <a:prstGeom prst="rect">
            <a:avLst/>
          </a:prstGeom>
          <a:noFill/>
          <a:ln w="38100">
            <a:solidFill>
              <a:srgbClr val="DD46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말풍선: 사각형 23">
            <a:extLst>
              <a:ext uri="{FF2B5EF4-FFF2-40B4-BE49-F238E27FC236}">
                <a16:creationId xmlns:a16="http://schemas.microsoft.com/office/drawing/2014/main" id="{AEAECA82-CB08-4D29-A4C4-DB99AB177F2F}"/>
              </a:ext>
            </a:extLst>
          </p:cNvPr>
          <p:cNvSpPr/>
          <p:nvPr/>
        </p:nvSpPr>
        <p:spPr>
          <a:xfrm>
            <a:off x="4361790" y="4572263"/>
            <a:ext cx="3276600" cy="381000"/>
          </a:xfrm>
          <a:prstGeom prst="wedgeRectCallout">
            <a:avLst>
              <a:gd name="adj1" fmla="val -56369"/>
              <a:gd name="adj2" fmla="val -1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[1] values, aggfunc</a:t>
            </a: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D3D6606-672C-4742-AA7D-7B432CC50E09}"/>
              </a:ext>
            </a:extLst>
          </p:cNvPr>
          <p:cNvSpPr/>
          <p:nvPr/>
        </p:nvSpPr>
        <p:spPr>
          <a:xfrm>
            <a:off x="1819747" y="2939533"/>
            <a:ext cx="2294393" cy="2365048"/>
          </a:xfrm>
          <a:prstGeom prst="rect">
            <a:avLst/>
          </a:prstGeom>
          <a:noFill/>
          <a:ln w="38100">
            <a:solidFill>
              <a:srgbClr val="DD46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말풍선: 사각형 25">
            <a:extLst>
              <a:ext uri="{FF2B5EF4-FFF2-40B4-BE49-F238E27FC236}">
                <a16:creationId xmlns:a16="http://schemas.microsoft.com/office/drawing/2014/main" id="{FAF0CC5D-1CD4-40AD-8FED-6945EA640C1A}"/>
              </a:ext>
            </a:extLst>
          </p:cNvPr>
          <p:cNvSpPr/>
          <p:nvPr/>
        </p:nvSpPr>
        <p:spPr>
          <a:xfrm>
            <a:off x="8065883" y="2517646"/>
            <a:ext cx="3276600" cy="381000"/>
          </a:xfrm>
          <a:prstGeom prst="wedgeRectCallout">
            <a:avLst>
              <a:gd name="adj1" fmla="val -56369"/>
              <a:gd name="adj2" fmla="val -1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없는값 </a:t>
            </a:r>
            <a:r>
              <a:rPr lang="en-US" altLang="ko-KR"/>
              <a:t>0</a:t>
            </a:r>
            <a:r>
              <a:rPr lang="ko-KR" altLang="en-US"/>
              <a:t>으로 채우기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23015A8-B31E-45E5-9652-775E21F025F1}"/>
              </a:ext>
            </a:extLst>
          </p:cNvPr>
          <p:cNvGrpSpPr/>
          <p:nvPr/>
        </p:nvGrpSpPr>
        <p:grpSpPr>
          <a:xfrm>
            <a:off x="3609925" y="1151309"/>
            <a:ext cx="3448052" cy="304800"/>
            <a:chOff x="3371850" y="952500"/>
            <a:chExt cx="3448052" cy="304800"/>
          </a:xfrm>
          <a:solidFill>
            <a:schemeClr val="bg1">
              <a:lumMod val="50000"/>
            </a:schemeClr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1C0645C-3414-4C18-A9F5-80772EE302E7}"/>
                </a:ext>
              </a:extLst>
            </p:cNvPr>
            <p:cNvSpPr/>
            <p:nvPr/>
          </p:nvSpPr>
          <p:spPr>
            <a:xfrm>
              <a:off x="3371850" y="952500"/>
              <a:ext cx="304800" cy="304800"/>
            </a:xfrm>
            <a:prstGeom prst="ellipse">
              <a:avLst/>
            </a:prstGeom>
            <a:grp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97F5D0D-0F9B-425D-BA78-1EEDB03B4AC2}"/>
                </a:ext>
              </a:extLst>
            </p:cNvPr>
            <p:cNvSpPr/>
            <p:nvPr/>
          </p:nvSpPr>
          <p:spPr>
            <a:xfrm>
              <a:off x="4276725" y="952500"/>
              <a:ext cx="304800" cy="304800"/>
            </a:xfrm>
            <a:prstGeom prst="ellipse">
              <a:avLst/>
            </a:prstGeom>
            <a:grp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07ACF41A-3E82-426D-9E14-81242B2B2F17}"/>
                </a:ext>
              </a:extLst>
            </p:cNvPr>
            <p:cNvSpPr/>
            <p:nvPr/>
          </p:nvSpPr>
          <p:spPr>
            <a:xfrm>
              <a:off x="5219700" y="952500"/>
              <a:ext cx="304800" cy="304800"/>
            </a:xfrm>
            <a:prstGeom prst="ellipse">
              <a:avLst/>
            </a:prstGeom>
            <a:grp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7CCAAB0-F8EB-43E9-845A-579C93F5C231}"/>
                </a:ext>
              </a:extLst>
            </p:cNvPr>
            <p:cNvSpPr/>
            <p:nvPr/>
          </p:nvSpPr>
          <p:spPr>
            <a:xfrm>
              <a:off x="6515102" y="952500"/>
              <a:ext cx="304800" cy="304800"/>
            </a:xfrm>
            <a:prstGeom prst="ellipse">
              <a:avLst/>
            </a:prstGeom>
            <a:grp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32FD44F-73A8-4CF9-9977-47C4B36E18C8}"/>
              </a:ext>
            </a:extLst>
          </p:cNvPr>
          <p:cNvCxnSpPr>
            <a:cxnSpLocks/>
            <a:endCxn id="18" idx="4"/>
          </p:cNvCxnSpPr>
          <p:nvPr/>
        </p:nvCxnSpPr>
        <p:spPr>
          <a:xfrm flipV="1">
            <a:off x="3762325" y="1456109"/>
            <a:ext cx="0" cy="199784"/>
          </a:xfrm>
          <a:prstGeom prst="straightConnector1">
            <a:avLst/>
          </a:prstGeom>
          <a:ln w="38100">
            <a:solidFill>
              <a:srgbClr val="D247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44DEE6B-2719-4F87-A734-807434A48496}"/>
              </a:ext>
            </a:extLst>
          </p:cNvPr>
          <p:cNvCxnSpPr>
            <a:cxnSpLocks/>
          </p:cNvCxnSpPr>
          <p:nvPr/>
        </p:nvCxnSpPr>
        <p:spPr>
          <a:xfrm flipV="1">
            <a:off x="4667200" y="1456109"/>
            <a:ext cx="0" cy="199784"/>
          </a:xfrm>
          <a:prstGeom prst="straightConnector1">
            <a:avLst/>
          </a:prstGeom>
          <a:ln w="38100">
            <a:solidFill>
              <a:srgbClr val="D247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0098B9B-7DDB-4472-8544-1C97D6CCF4FF}"/>
              </a:ext>
            </a:extLst>
          </p:cNvPr>
          <p:cNvCxnSpPr>
            <a:cxnSpLocks/>
            <a:endCxn id="28" idx="4"/>
          </p:cNvCxnSpPr>
          <p:nvPr/>
        </p:nvCxnSpPr>
        <p:spPr>
          <a:xfrm flipV="1">
            <a:off x="5610175" y="1456109"/>
            <a:ext cx="0" cy="199784"/>
          </a:xfrm>
          <a:prstGeom prst="straightConnector1">
            <a:avLst/>
          </a:prstGeom>
          <a:ln w="38100">
            <a:solidFill>
              <a:srgbClr val="D247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AC30C7B-5426-438E-A2FD-06176BADD0F3}"/>
              </a:ext>
            </a:extLst>
          </p:cNvPr>
          <p:cNvCxnSpPr>
            <a:cxnSpLocks/>
          </p:cNvCxnSpPr>
          <p:nvPr/>
        </p:nvCxnSpPr>
        <p:spPr>
          <a:xfrm flipV="1">
            <a:off x="6905577" y="1456109"/>
            <a:ext cx="0" cy="199784"/>
          </a:xfrm>
          <a:prstGeom prst="straightConnector1">
            <a:avLst/>
          </a:prstGeom>
          <a:ln w="38100">
            <a:solidFill>
              <a:srgbClr val="D247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41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1C9EAA-BC8D-4AC8-A707-61168AC29DD4}"/>
              </a:ext>
            </a:extLst>
          </p:cNvPr>
          <p:cNvSpPr/>
          <p:nvPr/>
        </p:nvSpPr>
        <p:spPr>
          <a:xfrm>
            <a:off x="903743" y="538681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거주국가에 따른 만족한 활동을 피벗 테이블로 작성하여     </a:t>
            </a:r>
            <a:r>
              <a:rPr lang="en-US" altLang="ko-KR" sz="1200" b="1"/>
              <a:t>output</a:t>
            </a:r>
            <a:r>
              <a:rPr lang="ko-KR" altLang="en-US" sz="1200" b="1"/>
              <a:t>폴더에 </a:t>
            </a:r>
            <a:r>
              <a:rPr lang="en-US" altLang="ko-KR" sz="1200" b="1"/>
              <a:t>'</a:t>
            </a:r>
            <a:r>
              <a:rPr lang="ko-KR" altLang="en-US" sz="1200" b="1"/>
              <a:t>국가별</a:t>
            </a:r>
            <a:r>
              <a:rPr lang="en-US" altLang="ko-KR" sz="1200" b="1"/>
              <a:t>_</a:t>
            </a:r>
            <a:r>
              <a:rPr lang="ko-KR" altLang="en-US" sz="1200" b="1"/>
              <a:t>만족활동인원수</a:t>
            </a:r>
            <a:r>
              <a:rPr lang="en-US" altLang="ko-KR" sz="1200" b="1"/>
              <a:t>.csv' </a:t>
            </a:r>
            <a:r>
              <a:rPr lang="ko-KR" altLang="en-US" sz="1200" b="1"/>
              <a:t>파일로 저장합니다</a:t>
            </a:r>
            <a:r>
              <a:rPr lang="en-US" altLang="ko-KR" sz="1200" b="1"/>
              <a:t>.</a:t>
            </a:r>
            <a:endParaRPr lang="ko-KR" altLang="en-US" sz="1400" b="1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2449EC-8DD5-45A5-B9AC-D94A273A3DC3}"/>
              </a:ext>
            </a:extLst>
          </p:cNvPr>
          <p:cNvSpPr/>
          <p:nvPr/>
        </p:nvSpPr>
        <p:spPr>
          <a:xfrm>
            <a:off x="903743" y="3558106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동반유형에 따른 만족한 활동을 피벗 테이블로 작성하여     </a:t>
            </a:r>
            <a:r>
              <a:rPr lang="en-US" altLang="ko-KR" sz="1200" b="1"/>
              <a:t>output</a:t>
            </a:r>
            <a:r>
              <a:rPr lang="ko-KR" altLang="en-US" sz="1200" b="1"/>
              <a:t>폴더에 </a:t>
            </a:r>
            <a:r>
              <a:rPr lang="en-US" altLang="ko-KR" sz="1200" b="1"/>
              <a:t>'</a:t>
            </a:r>
            <a:r>
              <a:rPr lang="ko-KR" altLang="en-US" sz="1200" b="1"/>
              <a:t>동반유형별</a:t>
            </a:r>
            <a:r>
              <a:rPr lang="en-US" altLang="ko-KR" sz="1200" b="1"/>
              <a:t>_</a:t>
            </a:r>
            <a:r>
              <a:rPr lang="ko-KR" altLang="en-US" sz="1200" b="1"/>
              <a:t>만족활동인원수</a:t>
            </a:r>
            <a:r>
              <a:rPr lang="en-US" altLang="ko-KR" sz="1200" b="1"/>
              <a:t>.csv' </a:t>
            </a:r>
            <a:r>
              <a:rPr lang="ko-KR" altLang="en-US" sz="1200" b="1"/>
              <a:t>파일로 저장합니다</a:t>
            </a:r>
            <a:r>
              <a:rPr lang="en-US" altLang="ko-KR" sz="1200" b="1"/>
              <a:t>.</a:t>
            </a:r>
            <a:endParaRPr lang="ko-KR" altLang="en-US" sz="1400" b="1"/>
          </a:p>
        </p:txBody>
      </p:sp>
      <p:sp>
        <p:nvSpPr>
          <p:cNvPr id="35" name="말풍선: 사각형 34">
            <a:extLst>
              <a:ext uri="{FF2B5EF4-FFF2-40B4-BE49-F238E27FC236}">
                <a16:creationId xmlns:a16="http://schemas.microsoft.com/office/drawing/2014/main" id="{FD4D0945-15AC-497D-ABA1-2ADCE5232565}"/>
              </a:ext>
            </a:extLst>
          </p:cNvPr>
          <p:cNvSpPr/>
          <p:nvPr/>
        </p:nvSpPr>
        <p:spPr>
          <a:xfrm>
            <a:off x="6962775" y="3928091"/>
            <a:ext cx="4924425" cy="367684"/>
          </a:xfrm>
          <a:prstGeom prst="wedgeRectCallout">
            <a:avLst>
              <a:gd name="adj1" fmla="val -20199"/>
              <a:gd name="adj2" fmla="val -775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(</a:t>
            </a:r>
            <a:r>
              <a:rPr lang="ko-KR" altLang="en-US" sz="1100"/>
              <a:t>국가를 주키로 작업하는 내용임으로</a:t>
            </a:r>
            <a:r>
              <a:rPr lang="en-US" altLang="ko-KR" sz="1100"/>
              <a:t>, </a:t>
            </a:r>
            <a:r>
              <a:rPr lang="ko-KR" altLang="en-US" sz="1100"/>
              <a:t>여기서는 하지 않아도 되는 작업임</a:t>
            </a:r>
            <a:r>
              <a:rPr lang="en-US" altLang="ko-KR" sz="1100"/>
              <a:t>)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45546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573382-25AF-4782-899B-C2EEE43985D9}"/>
              </a:ext>
            </a:extLst>
          </p:cNvPr>
          <p:cNvSpPr/>
          <p:nvPr/>
        </p:nvSpPr>
        <p:spPr>
          <a:xfrm>
            <a:off x="903743" y="538681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거주국가에 따른 동반유형을 </a:t>
            </a:r>
            <a:r>
              <a:rPr lang="en-US" altLang="ko-KR" sz="1200" b="1"/>
              <a:t>seaborn</a:t>
            </a:r>
            <a:r>
              <a:rPr lang="ko-KR" altLang="en-US" sz="1200" b="1"/>
              <a:t>의 </a:t>
            </a:r>
            <a:r>
              <a:rPr lang="en-US" altLang="ko-KR" sz="1200" b="1"/>
              <a:t>countplot</a:t>
            </a:r>
            <a:r>
              <a:rPr lang="ko-KR" altLang="en-US" sz="1200" b="1"/>
              <a:t>를 이용하여 다음과 같이 결과가 나올수 있도록 지정합니다</a:t>
            </a:r>
            <a:r>
              <a:rPr lang="en-US" altLang="ko-KR" sz="1200" b="1"/>
              <a:t>.</a:t>
            </a:r>
            <a:endParaRPr lang="ko-KR" altLang="en-US" sz="14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E681C-815A-4580-8017-C5365DB553FB}"/>
              </a:ext>
            </a:extLst>
          </p:cNvPr>
          <p:cNvSpPr txBox="1"/>
          <p:nvPr/>
        </p:nvSpPr>
        <p:spPr>
          <a:xfrm>
            <a:off x="903742" y="948709"/>
            <a:ext cx="9840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참조사이트</a:t>
            </a:r>
            <a:r>
              <a:rPr lang="en-US" altLang="ko-KR" sz="1200"/>
              <a:t>)</a:t>
            </a:r>
          </a:p>
          <a:p>
            <a:r>
              <a:rPr lang="ko-KR" altLang="en-US" sz="1200"/>
              <a:t>https://teddylee777.github.io/visualization/seaborn-tutorial-1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5974DF-5A23-4FB7-9D08-90D34896F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85" y="1638764"/>
            <a:ext cx="5129715" cy="4796700"/>
          </a:xfrm>
          <a:prstGeom prst="rect">
            <a:avLst/>
          </a:prstGeom>
        </p:spPr>
      </p:pic>
      <p:sp>
        <p:nvSpPr>
          <p:cNvPr id="14" name="말풍선: 사각형 13">
            <a:extLst>
              <a:ext uri="{FF2B5EF4-FFF2-40B4-BE49-F238E27FC236}">
                <a16:creationId xmlns:a16="http://schemas.microsoft.com/office/drawing/2014/main" id="{0A038DE0-7741-4490-A74A-92ECFC4164DD}"/>
              </a:ext>
            </a:extLst>
          </p:cNvPr>
          <p:cNvSpPr/>
          <p:nvPr/>
        </p:nvSpPr>
        <p:spPr>
          <a:xfrm>
            <a:off x="6248402" y="2584321"/>
            <a:ext cx="5219698" cy="381000"/>
          </a:xfrm>
          <a:prstGeom prst="wedgeRectCallout">
            <a:avLst>
              <a:gd name="adj1" fmla="val -56369"/>
              <a:gd name="adj2" fmla="val -1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국가별</a:t>
            </a:r>
            <a:r>
              <a:rPr lang="en-US" altLang="ko-KR"/>
              <a:t>, </a:t>
            </a:r>
            <a:r>
              <a:rPr lang="ko-KR" altLang="en-US"/>
              <a:t>동반유형</a:t>
            </a:r>
          </a:p>
        </p:txBody>
      </p:sp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952516AD-00EF-4DD4-8948-D46F559B151D}"/>
              </a:ext>
            </a:extLst>
          </p:cNvPr>
          <p:cNvSpPr/>
          <p:nvPr/>
        </p:nvSpPr>
        <p:spPr>
          <a:xfrm>
            <a:off x="6248402" y="4139268"/>
            <a:ext cx="5219698" cy="381000"/>
          </a:xfrm>
          <a:prstGeom prst="wedgeRectCallout">
            <a:avLst>
              <a:gd name="adj1" fmla="val -56369"/>
              <a:gd name="adj2" fmla="val -1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국가별</a:t>
            </a:r>
            <a:r>
              <a:rPr lang="en-US" altLang="ko-KR"/>
              <a:t>, </a:t>
            </a:r>
            <a:r>
              <a:rPr lang="ko-KR" altLang="en-US"/>
              <a:t>만족한활동</a:t>
            </a:r>
          </a:p>
        </p:txBody>
      </p: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A162D7CC-9FFD-4EF6-A74A-8F39BD9FCD3D}"/>
              </a:ext>
            </a:extLst>
          </p:cNvPr>
          <p:cNvSpPr/>
          <p:nvPr/>
        </p:nvSpPr>
        <p:spPr>
          <a:xfrm>
            <a:off x="6248402" y="5718791"/>
            <a:ext cx="5219698" cy="381000"/>
          </a:xfrm>
          <a:prstGeom prst="wedgeRectCallout">
            <a:avLst>
              <a:gd name="adj1" fmla="val -56369"/>
              <a:gd name="adj2" fmla="val -1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동반유형별</a:t>
            </a:r>
            <a:r>
              <a:rPr lang="en-US" altLang="ko-KR" sz="1200"/>
              <a:t>, </a:t>
            </a:r>
            <a:r>
              <a:rPr lang="ko-KR" altLang="en-US" sz="1200"/>
              <a:t>만족한활동</a:t>
            </a:r>
            <a:endParaRPr lang="en-US" altLang="ko-KR" sz="1200"/>
          </a:p>
          <a:p>
            <a:pPr algn="ctr"/>
            <a:r>
              <a:rPr lang="en-US" altLang="ko-KR" sz="1200"/>
              <a:t>(</a:t>
            </a:r>
            <a:r>
              <a:rPr lang="ko-KR" altLang="en-US" sz="1200"/>
              <a:t>국가를 주키로 작업하는 내용임으로</a:t>
            </a:r>
            <a:r>
              <a:rPr lang="en-US" altLang="ko-KR" sz="1200"/>
              <a:t>, </a:t>
            </a:r>
            <a:r>
              <a:rPr lang="ko-KR" altLang="en-US" sz="1200"/>
              <a:t>여기서는 하지 않아도 되는 작업임</a:t>
            </a:r>
            <a:r>
              <a:rPr lang="en-US" altLang="ko-KR" sz="1200"/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2767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573382-25AF-4782-899B-C2EEE43985D9}"/>
              </a:ext>
            </a:extLst>
          </p:cNvPr>
          <p:cNvSpPr/>
          <p:nvPr/>
        </p:nvSpPr>
        <p:spPr>
          <a:xfrm>
            <a:off x="903743" y="538681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거주국가에 따른 동반유형을 </a:t>
            </a:r>
            <a:r>
              <a:rPr lang="en-US" altLang="ko-KR" sz="1200" b="1"/>
              <a:t>seaborn</a:t>
            </a:r>
            <a:r>
              <a:rPr lang="ko-KR" altLang="en-US" sz="1200" b="1"/>
              <a:t>의 </a:t>
            </a:r>
            <a:r>
              <a:rPr lang="en-US" altLang="ko-KR" sz="1200" b="1"/>
              <a:t>countplot</a:t>
            </a:r>
            <a:r>
              <a:rPr lang="ko-KR" altLang="en-US" sz="1200" b="1"/>
              <a:t>를 이용하여 다음과 같이 누적막대가 나올수 있도록 지정합니다</a:t>
            </a:r>
            <a:r>
              <a:rPr lang="en-US" altLang="ko-KR" sz="1200" b="1"/>
              <a:t>.</a:t>
            </a:r>
            <a:endParaRPr lang="ko-KR" altLang="en-US" sz="1400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F268B9-DF71-45D6-A826-3C1FCC7DE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42" y="1318041"/>
            <a:ext cx="7458075" cy="24288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2E29EA5-FCFD-4CED-81F0-BDC0EE9C7BC0}"/>
              </a:ext>
            </a:extLst>
          </p:cNvPr>
          <p:cNvSpPr txBox="1"/>
          <p:nvPr/>
        </p:nvSpPr>
        <p:spPr>
          <a:xfrm>
            <a:off x="903742" y="948709"/>
            <a:ext cx="9592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sns.countplot(y='nat', hue='member', dodge=False, data=df)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6EE5C9-A3BB-4F5E-9FB9-CA38DFF26062}"/>
              </a:ext>
            </a:extLst>
          </p:cNvPr>
          <p:cNvSpPr txBox="1"/>
          <p:nvPr/>
        </p:nvSpPr>
        <p:spPr>
          <a:xfrm>
            <a:off x="903742" y="3746916"/>
            <a:ext cx="9592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sns.countplot(y='nat', hue='bestact', dodge=False, data=df)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9CB528-D673-4A82-BEC3-3CFCBF55D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56" y="4116248"/>
            <a:ext cx="7408962" cy="231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05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573382-25AF-4782-899B-C2EEE43985D9}"/>
              </a:ext>
            </a:extLst>
          </p:cNvPr>
          <p:cNvSpPr/>
          <p:nvPr/>
        </p:nvSpPr>
        <p:spPr>
          <a:xfrm>
            <a:off x="903743" y="538681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국가별로 동반자의 현황을 결과물과 같이 차트를 작성합니다</a:t>
            </a:r>
            <a:r>
              <a:rPr lang="en-US" altLang="ko-KR" sz="1200" b="1"/>
              <a:t>.</a:t>
            </a:r>
            <a:endParaRPr lang="ko-KR" altLang="en-US" sz="1400" b="1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95EB53-B2B4-4755-8BF1-351AF9030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30" y="1457325"/>
            <a:ext cx="6372225" cy="4610100"/>
          </a:xfrm>
          <a:prstGeom prst="rect">
            <a:avLst/>
          </a:prstGeom>
        </p:spPr>
      </p:pic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51EDBE70-7735-4843-AA3E-FC3F5DD531BA}"/>
              </a:ext>
            </a:extLst>
          </p:cNvPr>
          <p:cNvSpPr/>
          <p:nvPr/>
        </p:nvSpPr>
        <p:spPr>
          <a:xfrm>
            <a:off x="876301" y="979488"/>
            <a:ext cx="6325653" cy="381000"/>
          </a:xfrm>
          <a:prstGeom prst="wedgeRectCallout">
            <a:avLst>
              <a:gd name="adj1" fmla="val -22245"/>
              <a:gd name="adj2" fmla="val 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참고 </a:t>
            </a:r>
            <a:r>
              <a:rPr lang="en-US" altLang="ko-KR"/>
              <a:t>'</a:t>
            </a:r>
            <a:r>
              <a:rPr lang="ko-KR" altLang="en-US"/>
              <a:t>서울코로나현황분석</a:t>
            </a:r>
            <a:r>
              <a:rPr lang="en-US" altLang="ko-KR"/>
              <a:t>.html '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0B09E7-3FED-4D61-9BAD-CF1F9DA59788}"/>
              </a:ext>
            </a:extLst>
          </p:cNvPr>
          <p:cNvSpPr/>
          <p:nvPr/>
        </p:nvSpPr>
        <p:spPr>
          <a:xfrm>
            <a:off x="903744" y="1587347"/>
            <a:ext cx="6230482" cy="43753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ysClr val="windowText" lastClr="000000"/>
                </a:solidFill>
              </a:rPr>
              <a:t># *************** </a:t>
            </a:r>
            <a:r>
              <a:rPr lang="ko-KR" altLang="en-US" sz="1100">
                <a:solidFill>
                  <a:sysClr val="windowText" lastClr="000000"/>
                </a:solidFill>
              </a:rPr>
              <a:t>추가</a:t>
            </a:r>
          </a:p>
          <a:p>
            <a:r>
              <a:rPr lang="ko-KR" altLang="en-US" sz="1100">
                <a:solidFill>
                  <a:sysClr val="windowText" lastClr="000000"/>
                </a:solidFill>
              </a:rPr>
              <a:t>거주지선택</a:t>
            </a:r>
            <a:r>
              <a:rPr lang="en-US" altLang="ko-KR" sz="1100">
                <a:solidFill>
                  <a:sysClr val="windowText" lastClr="000000"/>
                </a:solidFill>
              </a:rPr>
              <a:t>=['</a:t>
            </a:r>
            <a:r>
              <a:rPr lang="ko-KR" altLang="en-US" sz="1100">
                <a:solidFill>
                  <a:sysClr val="windowText" lastClr="000000"/>
                </a:solidFill>
              </a:rPr>
              <a:t>강남구</a:t>
            </a:r>
            <a:r>
              <a:rPr lang="en-US" altLang="ko-KR" sz="1100">
                <a:solidFill>
                  <a:sysClr val="windowText" lastClr="000000"/>
                </a:solidFill>
              </a:rPr>
              <a:t>', '</a:t>
            </a:r>
            <a:r>
              <a:rPr lang="ko-KR" altLang="en-US" sz="1100">
                <a:solidFill>
                  <a:sysClr val="windowText" lastClr="000000"/>
                </a:solidFill>
              </a:rPr>
              <a:t>강동구</a:t>
            </a:r>
            <a:r>
              <a:rPr lang="en-US" altLang="ko-KR" sz="1100">
                <a:solidFill>
                  <a:sysClr val="windowText" lastClr="000000"/>
                </a:solidFill>
              </a:rPr>
              <a:t>','</a:t>
            </a:r>
            <a:r>
              <a:rPr lang="ko-KR" altLang="en-US" sz="1100">
                <a:solidFill>
                  <a:sysClr val="windowText" lastClr="000000"/>
                </a:solidFill>
              </a:rPr>
              <a:t>종로구</a:t>
            </a:r>
            <a:r>
              <a:rPr lang="en-US" altLang="ko-KR" sz="1100">
                <a:solidFill>
                  <a:sysClr val="windowText" lastClr="000000"/>
                </a:solidFill>
              </a:rPr>
              <a:t>']</a:t>
            </a:r>
          </a:p>
          <a:p>
            <a:endParaRPr lang="en-US" altLang="ko-KR" sz="1100">
              <a:solidFill>
                <a:sysClr val="windowText" lastClr="000000"/>
              </a:solidFill>
            </a:endParaRP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plt.figure()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for i in </a:t>
            </a:r>
            <a:r>
              <a:rPr lang="ko-KR" altLang="en-US" sz="1100">
                <a:solidFill>
                  <a:sysClr val="windowText" lastClr="000000"/>
                </a:solidFill>
              </a:rPr>
              <a:t>거주지선택</a:t>
            </a:r>
            <a:r>
              <a:rPr lang="en-US" altLang="ko-KR" sz="1100">
                <a:solidFill>
                  <a:sysClr val="windowText" lastClr="000000"/>
                </a:solidFill>
              </a:rPr>
              <a:t>: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tmp=df.groupby('</a:t>
            </a:r>
            <a:r>
              <a:rPr lang="ko-KR" altLang="en-US" sz="1100">
                <a:solidFill>
                  <a:sysClr val="windowText" lastClr="000000"/>
                </a:solidFill>
              </a:rPr>
              <a:t>거주지</a:t>
            </a:r>
            <a:r>
              <a:rPr lang="en-US" altLang="ko-KR" sz="1100">
                <a:solidFill>
                  <a:sysClr val="windowText" lastClr="000000"/>
                </a:solidFill>
              </a:rPr>
              <a:t>').get_group(i)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# display(tmp)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print('-----------------------------------------------------------------')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## </a:t>
            </a:r>
            <a:r>
              <a:rPr lang="ko-KR" altLang="en-US" sz="1100">
                <a:solidFill>
                  <a:sysClr val="windowText" lastClr="000000"/>
                </a:solidFill>
              </a:rPr>
              <a:t>차트작성</a:t>
            </a:r>
          </a:p>
          <a:p>
            <a:r>
              <a:rPr lang="ko-KR" altLang="en-US" sz="1100">
                <a:solidFill>
                  <a:sysClr val="windowText" lastClr="000000"/>
                </a:solidFill>
              </a:rPr>
              <a:t>    </a:t>
            </a:r>
          </a:p>
          <a:p>
            <a:r>
              <a:rPr lang="ko-KR" altLang="en-US" sz="1100">
                <a:solidFill>
                  <a:sysClr val="windowText" lastClr="000000"/>
                </a:solidFill>
              </a:rPr>
              <a:t>    </a:t>
            </a:r>
            <a:r>
              <a:rPr lang="en-US" altLang="ko-KR" sz="1100">
                <a:solidFill>
                  <a:sysClr val="windowText" lastClr="000000"/>
                </a:solidFill>
              </a:rPr>
              <a:t>FieldCount = tmp.groupby('</a:t>
            </a:r>
            <a:r>
              <a:rPr lang="ko-KR" altLang="en-US" sz="1100">
                <a:solidFill>
                  <a:sysClr val="windowText" lastClr="000000"/>
                </a:solidFill>
              </a:rPr>
              <a:t>입퇴원여부</a:t>
            </a:r>
            <a:r>
              <a:rPr lang="en-US" altLang="ko-KR" sz="1100">
                <a:solidFill>
                  <a:sysClr val="windowText" lastClr="000000"/>
                </a:solidFill>
              </a:rPr>
              <a:t>').</a:t>
            </a:r>
            <a:r>
              <a:rPr lang="ko-KR" altLang="en-US" sz="1100">
                <a:solidFill>
                  <a:sysClr val="windowText" lastClr="000000"/>
                </a:solidFill>
              </a:rPr>
              <a:t>입퇴원여부</a:t>
            </a:r>
            <a:r>
              <a:rPr lang="en-US" altLang="ko-KR" sz="1100">
                <a:solidFill>
                  <a:sysClr val="windowText" lastClr="000000"/>
                </a:solidFill>
              </a:rPr>
              <a:t>.count()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FieldCount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print( FieldCount)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label=FieldCount.index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index = np.arange(len(label))</a:t>
            </a:r>
          </a:p>
          <a:p>
            <a:endParaRPr lang="en-US" altLang="ko-KR" sz="1100">
              <a:solidFill>
                <a:sysClr val="windowText" lastClr="000000"/>
              </a:solidFill>
            </a:endParaRP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# Basic Bar Chart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plt.bar(index, FieldCount)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plt.title('Count' + i, fontsize=40, fontproperties=fontprop)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plt.xlabel(i, fontsize=18, fontproperties=fontprop)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plt.ylabel('Count of </a:t>
            </a:r>
            <a:r>
              <a:rPr lang="ko-KR" altLang="en-US" sz="1100">
                <a:solidFill>
                  <a:sysClr val="windowText" lastClr="000000"/>
                </a:solidFill>
              </a:rPr>
              <a:t>인원수</a:t>
            </a:r>
            <a:r>
              <a:rPr lang="en-US" altLang="ko-KR" sz="1100">
                <a:solidFill>
                  <a:sysClr val="windowText" lastClr="000000"/>
                </a:solidFill>
              </a:rPr>
              <a:t>', fontsize=18,fontproperties=fontprop)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plt.xticks(index, label, fontsize=15, fontproperties=fontprop)</a:t>
            </a:r>
          </a:p>
          <a:p>
            <a:r>
              <a:rPr lang="en-US" altLang="ko-KR" sz="1100">
                <a:solidFill>
                  <a:sysClr val="windowText" lastClr="000000"/>
                </a:solidFill>
              </a:rPr>
              <a:t>    plt.xticks(rotation=45)  #x</a:t>
            </a:r>
            <a:r>
              <a:rPr lang="ko-KR" altLang="en-US" sz="1100">
                <a:solidFill>
                  <a:sysClr val="windowText" lastClr="000000"/>
                </a:solidFill>
              </a:rPr>
              <a:t>축제목 회전</a:t>
            </a:r>
          </a:p>
          <a:p>
            <a:r>
              <a:rPr lang="ko-KR" altLang="en-US" sz="1100">
                <a:solidFill>
                  <a:sysClr val="windowText" lastClr="000000"/>
                </a:solidFill>
              </a:rPr>
              <a:t>    </a:t>
            </a:r>
            <a:r>
              <a:rPr lang="en-US" altLang="ko-KR" sz="1100">
                <a:solidFill>
                  <a:sysClr val="windowText" lastClr="000000"/>
                </a:solidFill>
              </a:rPr>
              <a:t>plt.show()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63F886F-90E2-4485-9C1E-04AB9D45A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088" y="1540172"/>
            <a:ext cx="1717250" cy="4897437"/>
          </a:xfrm>
          <a:prstGeom prst="rect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</p:pic>
      <p:sp>
        <p:nvSpPr>
          <p:cNvPr id="18" name="말풍선: 사각형 17">
            <a:extLst>
              <a:ext uri="{FF2B5EF4-FFF2-40B4-BE49-F238E27FC236}">
                <a16:creationId xmlns:a16="http://schemas.microsoft.com/office/drawing/2014/main" id="{9FA35770-1F61-4983-9E6A-AEBF54290AD5}"/>
              </a:ext>
            </a:extLst>
          </p:cNvPr>
          <p:cNvSpPr/>
          <p:nvPr/>
        </p:nvSpPr>
        <p:spPr>
          <a:xfrm>
            <a:off x="7558088" y="987426"/>
            <a:ext cx="1717250" cy="381000"/>
          </a:xfrm>
          <a:prstGeom prst="wedgeRectCallout">
            <a:avLst>
              <a:gd name="adj1" fmla="val -22245"/>
              <a:gd name="adj2" fmla="val 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결과</a:t>
            </a:r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C063308-7D3A-404C-94F6-9D2CBE5EA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950" y="1540172"/>
            <a:ext cx="2125307" cy="4897437"/>
          </a:xfrm>
          <a:prstGeom prst="rect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</p:pic>
      <p:sp>
        <p:nvSpPr>
          <p:cNvPr id="20" name="말풍선: 사각형 19">
            <a:extLst>
              <a:ext uri="{FF2B5EF4-FFF2-40B4-BE49-F238E27FC236}">
                <a16:creationId xmlns:a16="http://schemas.microsoft.com/office/drawing/2014/main" id="{73414902-ABB5-43F6-89D1-297BFB2DE020}"/>
              </a:ext>
            </a:extLst>
          </p:cNvPr>
          <p:cNvSpPr/>
          <p:nvPr/>
        </p:nvSpPr>
        <p:spPr>
          <a:xfrm>
            <a:off x="9505950" y="987426"/>
            <a:ext cx="2125306" cy="381000"/>
          </a:xfrm>
          <a:prstGeom prst="wedgeRectCallout">
            <a:avLst>
              <a:gd name="adj1" fmla="val -22245"/>
              <a:gd name="adj2" fmla="val 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결과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20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03511" y="36319"/>
            <a:ext cx="8613915" cy="369333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1600" b="1">
                <a:cs typeface="Segoe UI Light" panose="020B0502040204020203" pitchFamily="34" charset="0"/>
              </a:rPr>
              <a:t>외래관광객 실태조사 분석모델 설정</a:t>
            </a:r>
            <a:endParaRPr lang="ko-KR" altLang="en-US" sz="1600" b="1" dirty="0"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25C03-8D47-4CB1-A6E9-6F79BA6D6374}"/>
              </a:ext>
            </a:extLst>
          </p:cNvPr>
          <p:cNvSpPr txBox="1"/>
          <p:nvPr/>
        </p:nvSpPr>
        <p:spPr>
          <a:xfrm>
            <a:off x="4015843" y="67096"/>
            <a:ext cx="7871357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>
                <a:cs typeface="Segoe UI Light" panose="020B0502040204020203" pitchFamily="34" charset="0"/>
              </a:rPr>
              <a:t>분석</a:t>
            </a:r>
            <a:r>
              <a:rPr lang="en-US" altLang="ko-KR" sz="1400" b="1">
                <a:cs typeface="Segoe UI Light" panose="020B0502040204020203" pitchFamily="34" charset="0"/>
              </a:rPr>
              <a:t>: </a:t>
            </a:r>
            <a:r>
              <a:rPr lang="ko-KR" altLang="en-US" sz="1400" b="1">
                <a:cs typeface="Segoe UI Light" panose="020B0502040204020203" pitchFamily="34" charset="0"/>
              </a:rPr>
              <a:t>거주국가</a:t>
            </a:r>
            <a:r>
              <a:rPr lang="en-US" altLang="ko-KR" sz="1400" b="1">
                <a:cs typeface="Segoe UI Light" panose="020B0502040204020203" pitchFamily="34" charset="0"/>
              </a:rPr>
              <a:t>(nat)</a:t>
            </a:r>
            <a:r>
              <a:rPr lang="ko-KR" altLang="en-US" sz="1400" b="1">
                <a:cs typeface="Segoe UI Light" panose="020B0502040204020203" pitchFamily="34" charset="0"/>
              </a:rPr>
              <a:t>에 따른  동반유형</a:t>
            </a:r>
            <a:r>
              <a:rPr lang="en-US" altLang="ko-KR" sz="1400" b="1">
                <a:cs typeface="Segoe UI Light" panose="020B0502040204020203" pitchFamily="34" charset="0"/>
              </a:rPr>
              <a:t>(member)</a:t>
            </a:r>
            <a:r>
              <a:rPr lang="ko-KR" altLang="en-US" sz="1400" b="1">
                <a:cs typeface="Segoe UI Light" panose="020B0502040204020203" pitchFamily="34" charset="0"/>
              </a:rPr>
              <a:t>과 만족한활동</a:t>
            </a:r>
            <a:r>
              <a:rPr lang="en-US" altLang="ko-KR" sz="1400" b="1">
                <a:cs typeface="Segoe UI Light" panose="020B0502040204020203" pitchFamily="34" charset="0"/>
              </a:rPr>
              <a:t>(bestact) </a:t>
            </a:r>
            <a:r>
              <a:rPr lang="ko-KR" altLang="en-US" sz="1400" b="1">
                <a:cs typeface="Segoe UI Light" panose="020B0502040204020203" pitchFamily="34" charset="0"/>
              </a:rPr>
              <a:t>관계 분석  </a:t>
            </a:r>
            <a:endParaRPr lang="ko-KR" altLang="en-US" sz="1400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956130E-801B-4E22-9234-9729CDE55AAF}"/>
              </a:ext>
            </a:extLst>
          </p:cNvPr>
          <p:cNvSpPr/>
          <p:nvPr/>
        </p:nvSpPr>
        <p:spPr>
          <a:xfrm>
            <a:off x="570368" y="425512"/>
            <a:ext cx="208230" cy="226338"/>
          </a:xfrm>
          <a:custGeom>
            <a:avLst/>
            <a:gdLst>
              <a:gd name="connsiteX0" fmla="*/ 0 w 307818"/>
              <a:gd name="connsiteY0" fmla="*/ 0 h 199176"/>
              <a:gd name="connsiteX1" fmla="*/ 0 w 307818"/>
              <a:gd name="connsiteY1" fmla="*/ 199176 h 199176"/>
              <a:gd name="connsiteX2" fmla="*/ 307818 w 307818"/>
              <a:gd name="connsiteY2" fmla="*/ 199176 h 1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818" h="199176">
                <a:moveTo>
                  <a:pt x="0" y="0"/>
                </a:moveTo>
                <a:lnTo>
                  <a:pt x="0" y="199176"/>
                </a:lnTo>
                <a:lnTo>
                  <a:pt x="307818" y="199176"/>
                </a:lnTo>
              </a:path>
            </a:pathLst>
          </a:custGeom>
          <a:noFill/>
          <a:ln w="38100">
            <a:solidFill>
              <a:srgbClr val="D2472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573382-25AF-4782-899B-C2EEE43985D9}"/>
              </a:ext>
            </a:extLst>
          </p:cNvPr>
          <p:cNvSpPr/>
          <p:nvPr/>
        </p:nvSpPr>
        <p:spPr>
          <a:xfrm>
            <a:off x="903743" y="538681"/>
            <a:ext cx="10983457" cy="276999"/>
          </a:xfrm>
          <a:prstGeom prst="rect">
            <a:avLst/>
          </a:pr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/>
              <a:t>[</a:t>
            </a:r>
            <a:r>
              <a:rPr lang="ko-KR" altLang="en-US" sz="1200" b="1"/>
              <a:t>미션</a:t>
            </a:r>
            <a:r>
              <a:rPr lang="en-US" altLang="ko-KR" sz="1200" b="1"/>
              <a:t>] </a:t>
            </a:r>
            <a:r>
              <a:rPr lang="ko-KR" altLang="en-US" sz="1200" b="1"/>
              <a:t>국가별자료를 검색하여  </a:t>
            </a:r>
            <a:r>
              <a:rPr lang="en-US" altLang="ko-KR" sz="1200" b="1"/>
              <a:t>'</a:t>
            </a:r>
            <a:r>
              <a:rPr lang="ko-KR" altLang="en-US" sz="1200" b="1"/>
              <a:t>국가별자료폴더안에     프링스</a:t>
            </a:r>
            <a:r>
              <a:rPr lang="en-US" altLang="ko-KR" sz="1200" b="1"/>
              <a:t>.csv</a:t>
            </a:r>
            <a:r>
              <a:rPr lang="ko-KR" altLang="en-US" sz="1200" b="1"/>
              <a:t>로 저장합니다</a:t>
            </a:r>
            <a:r>
              <a:rPr lang="en-US" altLang="ko-KR" sz="1200" b="1"/>
              <a:t>.'</a:t>
            </a:r>
            <a:endParaRPr lang="ko-KR" altLang="en-US" sz="14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C8692B-0656-4A34-8E45-BD1088D11853}"/>
              </a:ext>
            </a:extLst>
          </p:cNvPr>
          <p:cNvSpPr txBox="1"/>
          <p:nvPr/>
        </p:nvSpPr>
        <p:spPr>
          <a:xfrm>
            <a:off x="903743" y="2573714"/>
            <a:ext cx="5277982" cy="313932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ko-KR" altLang="en-US"/>
          </a:p>
          <a:p>
            <a:r>
              <a:rPr lang="ko-KR" altLang="en-US"/>
              <a:t>조건</a:t>
            </a:r>
            <a:r>
              <a:rPr lang="en-US" altLang="ko-KR"/>
              <a:t>='</a:t>
            </a:r>
            <a:r>
              <a:rPr lang="ko-KR" altLang="en-US"/>
              <a:t>프랑스</a:t>
            </a:r>
            <a:r>
              <a:rPr lang="en-US" altLang="ko-KR"/>
              <a:t>'</a:t>
            </a:r>
          </a:p>
          <a:p>
            <a:r>
              <a:rPr lang="en-US" altLang="ko-KR"/>
              <a:t>tmp=df[df['nat']==</a:t>
            </a:r>
            <a:r>
              <a:rPr lang="ko-KR" altLang="en-US"/>
              <a:t>조건</a:t>
            </a:r>
            <a:r>
              <a:rPr lang="en-US" altLang="ko-KR"/>
              <a:t>]</a:t>
            </a:r>
          </a:p>
          <a:p>
            <a:r>
              <a:rPr lang="en-US" altLang="ko-KR"/>
              <a:t>tmp.head()</a:t>
            </a:r>
          </a:p>
          <a:p>
            <a:r>
              <a:rPr lang="en-US" altLang="ko-KR"/>
              <a:t>tmp.to_csv('./</a:t>
            </a:r>
            <a:r>
              <a:rPr lang="ko-KR" altLang="en-US"/>
              <a:t>국가별자료</a:t>
            </a:r>
            <a:r>
              <a:rPr lang="en-US" altLang="ko-KR"/>
              <a:t>/'+ </a:t>
            </a:r>
            <a:r>
              <a:rPr lang="ko-KR" altLang="en-US"/>
              <a:t>조건 </a:t>
            </a:r>
            <a:r>
              <a:rPr lang="en-US" altLang="ko-KR"/>
              <a:t>+ '.csv')</a:t>
            </a:r>
          </a:p>
          <a:p>
            <a:endParaRPr lang="en-US" altLang="ko-KR"/>
          </a:p>
          <a:p>
            <a:r>
              <a:rPr lang="ko-KR" altLang="en-US"/>
              <a:t>조건</a:t>
            </a:r>
            <a:r>
              <a:rPr lang="en-US" altLang="ko-KR"/>
              <a:t>='</a:t>
            </a:r>
            <a:r>
              <a:rPr lang="ko-KR" altLang="en-US"/>
              <a:t>미국</a:t>
            </a:r>
            <a:r>
              <a:rPr lang="en-US" altLang="ko-KR"/>
              <a:t>'</a:t>
            </a:r>
          </a:p>
          <a:p>
            <a:r>
              <a:rPr lang="en-US" altLang="ko-KR"/>
              <a:t>tmp=df[df['nat']==</a:t>
            </a:r>
            <a:r>
              <a:rPr lang="ko-KR" altLang="en-US"/>
              <a:t>조건</a:t>
            </a:r>
            <a:r>
              <a:rPr lang="en-US" altLang="ko-KR"/>
              <a:t>]</a:t>
            </a:r>
          </a:p>
          <a:p>
            <a:r>
              <a:rPr lang="en-US" altLang="ko-KR"/>
              <a:t>tmp.head()</a:t>
            </a:r>
          </a:p>
          <a:p>
            <a:r>
              <a:rPr lang="en-US" altLang="ko-KR"/>
              <a:t>tmp.to_csv('./</a:t>
            </a:r>
            <a:r>
              <a:rPr lang="ko-KR" altLang="en-US"/>
              <a:t>국가별자료</a:t>
            </a:r>
            <a:r>
              <a:rPr lang="en-US" altLang="ko-KR"/>
              <a:t>/'+ </a:t>
            </a:r>
            <a:r>
              <a:rPr lang="ko-KR" altLang="en-US"/>
              <a:t>조건 </a:t>
            </a:r>
            <a:r>
              <a:rPr lang="en-US" altLang="ko-KR"/>
              <a:t>+ '.csv')</a:t>
            </a:r>
            <a:endParaRPr lang="ko-KR" altLang="en-US"/>
          </a:p>
          <a:p>
            <a:endParaRPr lang="ko-KR" altLang="en-US"/>
          </a:p>
        </p:txBody>
      </p:sp>
      <p:sp>
        <p:nvSpPr>
          <p:cNvPr id="14" name="말풍선: 사각형 13">
            <a:extLst>
              <a:ext uri="{FF2B5EF4-FFF2-40B4-BE49-F238E27FC236}">
                <a16:creationId xmlns:a16="http://schemas.microsoft.com/office/drawing/2014/main" id="{0CA1C916-2FD1-4891-AFA3-0DD364C3ECF2}"/>
              </a:ext>
            </a:extLst>
          </p:cNvPr>
          <p:cNvSpPr/>
          <p:nvPr/>
        </p:nvSpPr>
        <p:spPr>
          <a:xfrm>
            <a:off x="903743" y="1401490"/>
            <a:ext cx="5176309" cy="687066"/>
          </a:xfrm>
          <a:prstGeom prst="wedgeRectCallout">
            <a:avLst>
              <a:gd name="adj1" fmla="val -22245"/>
              <a:gd name="adj2" fmla="val 95000"/>
            </a:avLst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아래 구문을 </a:t>
            </a:r>
            <a:r>
              <a:rPr lang="en-US" altLang="ko-KR"/>
              <a:t>for</a:t>
            </a:r>
            <a:r>
              <a:rPr lang="ko-KR" altLang="en-US"/>
              <a:t>로 변경하여서</a:t>
            </a:r>
            <a:endParaRPr lang="en-US" altLang="ko-KR"/>
          </a:p>
          <a:p>
            <a:pPr algn="ctr"/>
            <a:r>
              <a:rPr lang="ko-KR" altLang="en-US"/>
              <a:t>모든 국가자료가 저장될수 있게 합니다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C21BEB-97B5-49D3-9D23-198730B0A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2573715"/>
            <a:ext cx="3038475" cy="318192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26804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566CBA3-8DE2-420C-B708-51AFA22FE930}"/>
              </a:ext>
            </a:extLst>
          </p:cNvPr>
          <p:cNvSpPr txBox="1"/>
          <p:nvPr/>
        </p:nvSpPr>
        <p:spPr>
          <a:xfrm>
            <a:off x="657225" y="682109"/>
            <a:ext cx="10877550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2800" b="1"/>
              <a:t>가설</a:t>
            </a:r>
            <a:r>
              <a:rPr lang="en-US" altLang="ko-KR" sz="2800" b="1"/>
              <a:t>:</a:t>
            </a:r>
          </a:p>
          <a:p>
            <a:r>
              <a:rPr lang="ko-KR" altLang="en-US" sz="2800" b="1"/>
              <a:t>     여행형태</a:t>
            </a:r>
            <a:r>
              <a:rPr lang="en-US" altLang="ko-KR" sz="2800" b="1"/>
              <a:t>(tourtype)</a:t>
            </a:r>
            <a:r>
              <a:rPr lang="ko-KR" altLang="en-US" sz="2800" b="1"/>
              <a:t>에 따라 </a:t>
            </a:r>
            <a:endParaRPr lang="en-US" altLang="ko-KR" sz="2800" b="1"/>
          </a:p>
          <a:p>
            <a:r>
              <a:rPr lang="ko-KR" altLang="en-US" sz="2800" b="1"/>
              <a:t>     만족한활동</a:t>
            </a:r>
            <a:r>
              <a:rPr lang="en-US" altLang="ko-KR" sz="2800" b="1"/>
              <a:t>(bestact)</a:t>
            </a:r>
            <a:r>
              <a:rPr lang="ko-KR" altLang="en-US" sz="2800" b="1"/>
              <a:t> 가 차이가 있다</a:t>
            </a:r>
            <a:r>
              <a:rPr lang="en-US" altLang="ko-KR" sz="2800" b="1"/>
              <a:t>.</a:t>
            </a:r>
            <a:endParaRPr lang="ko-KR" altLang="en-US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87446-2FBB-4F87-80BA-08428760D391}"/>
              </a:ext>
            </a:extLst>
          </p:cNvPr>
          <p:cNvSpPr txBox="1"/>
          <p:nvPr/>
        </p:nvSpPr>
        <p:spPr>
          <a:xfrm>
            <a:off x="657225" y="2596634"/>
            <a:ext cx="10877550" cy="1631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2800" b="1"/>
              <a:t>[</a:t>
            </a:r>
            <a:r>
              <a:rPr lang="ko-KR" altLang="en-US" sz="2800" b="1"/>
              <a:t>미션</a:t>
            </a:r>
            <a:r>
              <a:rPr lang="en-US" altLang="ko-KR" sz="2800" b="1"/>
              <a:t>] </a:t>
            </a:r>
            <a:r>
              <a:rPr lang="ko-KR" altLang="en-US" sz="2800" b="1"/>
              <a:t>가설검증작업 </a:t>
            </a:r>
            <a:r>
              <a:rPr lang="en-US" altLang="ko-KR" sz="2800" b="1"/>
              <a:t>(6~16</a:t>
            </a:r>
            <a:r>
              <a:rPr lang="ko-KR" altLang="en-US" sz="2800" b="1"/>
              <a:t>번 슬라이드반복</a:t>
            </a:r>
            <a:r>
              <a:rPr lang="en-US" altLang="ko-KR" sz="2800" b="1"/>
              <a:t>)</a:t>
            </a:r>
          </a:p>
          <a:p>
            <a:r>
              <a:rPr lang="en-US" altLang="ko-KR" sz="2400" b="1"/>
              <a:t>  </a:t>
            </a:r>
            <a:r>
              <a:rPr lang="ko-KR" altLang="en-US" sz="2400" b="1"/>
              <a:t>여행형태별 인원수 집계</a:t>
            </a:r>
            <a:endParaRPr lang="en-US" altLang="ko-KR" sz="2400" b="1"/>
          </a:p>
          <a:p>
            <a:r>
              <a:rPr lang="en-US" altLang="ko-KR" sz="2400" b="1"/>
              <a:t>  </a:t>
            </a:r>
            <a:r>
              <a:rPr lang="ko-KR" altLang="en-US" sz="2400" b="1"/>
              <a:t>여행형태별 만족한활동 집계 및 차트 시각화를 통해</a:t>
            </a:r>
            <a:endParaRPr lang="en-US" altLang="ko-KR" sz="2400" b="1"/>
          </a:p>
          <a:p>
            <a:r>
              <a:rPr lang="en-US" altLang="ko-KR" sz="2400" b="1"/>
              <a:t>  </a:t>
            </a:r>
            <a:r>
              <a:rPr lang="ko-KR" altLang="en-US" sz="2400" b="1"/>
              <a:t>여행형태에 따라 만족한 활동이 변하는지를 확인함</a:t>
            </a:r>
            <a:r>
              <a:rPr lang="en-US" altLang="ko-KR" sz="2400" b="1"/>
              <a:t>.</a:t>
            </a:r>
            <a:endParaRPr lang="ko-KR" altLang="en-US" sz="2400" b="1"/>
          </a:p>
        </p:txBody>
      </p:sp>
    </p:spTree>
    <p:extLst>
      <p:ext uri="{BB962C8B-B14F-4D97-AF65-F5344CB8AC3E}">
        <p14:creationId xmlns:p14="http://schemas.microsoft.com/office/powerpoint/2010/main" val="374855561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715147_TF10001108.potx" id="{3F4D466F-2E95-485C-97A8-7A840C6B88CE}" vid="{A086733F-FFD1-4E69-9A0E-40414DC78DC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0072C5-DDE0-4258-BA7A-4D4B80DFA632}">
  <ds:schemaRefs>
    <ds:schemaRef ds:uri="http://schemas.microsoft.com/office/2006/documentManagement/types"/>
    <ds:schemaRef ds:uri="71af3243-3dd4-4a8d-8c0d-dd76da1f02a5"/>
    <ds:schemaRef ds:uri="http://purl.org/dc/elements/1.1/"/>
    <ds:schemaRef ds:uri="16c05727-aa75-4e4a-9b5f-8a80a1165891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{C57DFE11-DA03-4DAF-BF8A-F107893DD917}tf10001108_win32</Template>
  <TotalTime>734</TotalTime>
  <Words>1797</Words>
  <Application>Microsoft Office PowerPoint</Application>
  <PresentationFormat>와이드스크린</PresentationFormat>
  <Paragraphs>248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Segoe UI</vt:lpstr>
      <vt:lpstr>WelcomeDoc</vt:lpstr>
      <vt:lpstr>외래관광객 실태조사 분석모델 설정</vt:lpstr>
      <vt:lpstr>외래관광객 실태조사 분석모델 설정</vt:lpstr>
      <vt:lpstr>외래관광객 실태조사 분석모델 설정</vt:lpstr>
      <vt:lpstr>PowerPoint 프레젠테이션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PowerPoint 프레젠테이션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외래관광객 실태조사 분석모델 설정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PoweㄺㄷㄷrPoint 시작</dc:title>
  <dc:creator>bu tjdtns</dc:creator>
  <cp:keywords/>
  <cp:lastModifiedBy>bu tjdtns</cp:lastModifiedBy>
  <cp:revision>59</cp:revision>
  <dcterms:created xsi:type="dcterms:W3CDTF">2020-12-29T15:49:29Z</dcterms:created>
  <dcterms:modified xsi:type="dcterms:W3CDTF">2020-12-30T08:28:45Z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